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32" r:id="rId1"/>
  </p:sldMasterIdLst>
  <p:notesMasterIdLst>
    <p:notesMasterId r:id="rId29"/>
  </p:notesMasterIdLst>
  <p:sldIdLst>
    <p:sldId id="256" r:id="rId2"/>
    <p:sldId id="257" r:id="rId3"/>
    <p:sldId id="258" r:id="rId4"/>
    <p:sldId id="259" r:id="rId5"/>
    <p:sldId id="261" r:id="rId6"/>
    <p:sldId id="262" r:id="rId7"/>
    <p:sldId id="272" r:id="rId8"/>
    <p:sldId id="273" r:id="rId9"/>
    <p:sldId id="264" r:id="rId10"/>
    <p:sldId id="293" r:id="rId11"/>
    <p:sldId id="295" r:id="rId12"/>
    <p:sldId id="265" r:id="rId13"/>
    <p:sldId id="278" r:id="rId14"/>
    <p:sldId id="279" r:id="rId15"/>
    <p:sldId id="266" r:id="rId16"/>
    <p:sldId id="281" r:id="rId17"/>
    <p:sldId id="285" r:id="rId18"/>
    <p:sldId id="267" r:id="rId19"/>
    <p:sldId id="287" r:id="rId20"/>
    <p:sldId id="288" r:id="rId21"/>
    <p:sldId id="289" r:id="rId22"/>
    <p:sldId id="268" r:id="rId23"/>
    <p:sldId id="269" r:id="rId24"/>
    <p:sldId id="290" r:id="rId25"/>
    <p:sldId id="291" r:id="rId26"/>
    <p:sldId id="292" r:id="rId27"/>
    <p:sldId id="270" r:id="rId28"/>
  </p:sldIdLst>
  <p:sldSz cx="12192000" cy="6858000"/>
  <p:notesSz cx="6858000" cy="9144000"/>
  <p:embeddedFontLst>
    <p:embeddedFont>
      <p:font typeface="Calibri" panose="020F0502020204030204" pitchFamily="34" charset="0"/>
      <p:regular r:id="rId30"/>
      <p:bold r:id="rId31"/>
      <p:italic r:id="rId32"/>
      <p:boldItalic r:id="rId33"/>
    </p:embeddedFont>
    <p:embeddedFont>
      <p:font typeface="Franklin Gothic Book" panose="020B0503020102020204" pitchFamily="34" charset="0"/>
      <p:regular r:id="rId34"/>
      <p:italic r:id="rId35"/>
    </p:embeddedFont>
    <p:embeddedFont>
      <p:font typeface="Perpetua" panose="02020502060401020303" pitchFamily="18" charset="0"/>
      <p:regular r:id="rId36"/>
      <p:bold r:id="rId37"/>
      <p:italic r:id="rId38"/>
      <p:boldItalic r:id="rId39"/>
    </p:embeddedFont>
    <p:embeddedFont>
      <p:font typeface="Quicksand" panose="020B0604020202020204" charset="0"/>
      <p:regular r:id="rId40"/>
      <p:bold r:id="rId41"/>
    </p:embeddedFont>
    <p:embeddedFont>
      <p:font typeface="Tahoma" panose="020B0604030504040204" pitchFamily="34" charset="0"/>
      <p:regular r:id="rId42"/>
      <p:bold r:id="rId43"/>
    </p:embeddedFont>
    <p:embeddedFont>
      <p:font typeface="Wingdings 2" panose="05020102010507070707" pitchFamily="18" charset="2"/>
      <p:regular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jVrjQ93wRXRkd3JzmQWG21vM+H6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6" d="100"/>
          <a:sy n="86" d="100"/>
        </p:scale>
        <p:origin x="533" y="67"/>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5" name="Google Shape;24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7" name="Google Shape;27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5" name="Google Shape;28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1" name="Google Shape;30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1" name="Google Shape;30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1" name="Google Shape;30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9" name="Google Shape;30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9" name="Google Shape;30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9" name="Google Shape;30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9" name="Google Shape;34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1066800" y="6172200"/>
            <a:ext cx="5334000" cy="457200"/>
          </a:xfrm>
        </p:spPr>
        <p:txBody>
          <a:bodyPr/>
          <a:lstStyle/>
          <a:p>
            <a:endParaRPr lang="en-US"/>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95072" y="6208776"/>
            <a:ext cx="609600" cy="457200"/>
          </a:xfrm>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a:xfrm>
            <a:off x="1219200" y="6172200"/>
            <a:ext cx="5181600" cy="457200"/>
          </a:xfrm>
        </p:spPr>
        <p:txBody>
          <a:bodyPr/>
          <a:lstStyle/>
          <a:p>
            <a:endParaRPr lang="en-US"/>
          </a:p>
        </p:txBody>
      </p:sp>
      <p:sp>
        <p:nvSpPr>
          <p:cNvPr id="7" name="Slide Number Placeholder 6"/>
          <p:cNvSpPr>
            <a:spLocks noGrp="1"/>
          </p:cNvSpPr>
          <p:nvPr>
            <p:ph type="sldNum" sz="quarter" idx="12"/>
          </p:nvPr>
        </p:nvSpPr>
        <p:spPr>
          <a:xfrm>
            <a:off x="195072" y="6208776"/>
            <a:ext cx="609600" cy="457200"/>
          </a:xfrm>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5"/>
        <p:cNvGrpSpPr/>
        <p:nvPr/>
      </p:nvGrpSpPr>
      <p:grpSpPr>
        <a:xfrm>
          <a:off x="0" y="0"/>
          <a:ext cx="0" cy="0"/>
          <a:chOff x="0" y="0"/>
          <a:chExt cx="0" cy="0"/>
        </a:xfrm>
      </p:grpSpPr>
      <p:sp>
        <p:nvSpPr>
          <p:cNvPr id="16" name="Google Shape;16;p17"/>
          <p:cNvSpPr txBox="1">
            <a:spLocks noGrp="1"/>
          </p:cNvSpPr>
          <p:nvPr>
            <p:ph type="ctrTitle"/>
          </p:nvPr>
        </p:nvSpPr>
        <p:spPr>
          <a:xfrm>
            <a:off x="1758900" y="2978025"/>
            <a:ext cx="8907200" cy="1546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5000"/>
              <a:buFont typeface="Calibri"/>
              <a:buNone/>
              <a:defRPr sz="6667"/>
            </a:lvl1pPr>
            <a:lvl2pPr lvl="1" algn="l">
              <a:lnSpc>
                <a:spcPct val="100000"/>
              </a:lnSpc>
              <a:spcBef>
                <a:spcPts val="0"/>
              </a:spcBef>
              <a:spcAft>
                <a:spcPts val="0"/>
              </a:spcAft>
              <a:buSzPts val="5000"/>
              <a:buNone/>
              <a:defRPr sz="6667"/>
            </a:lvl2pPr>
            <a:lvl3pPr lvl="2" algn="l">
              <a:lnSpc>
                <a:spcPct val="100000"/>
              </a:lnSpc>
              <a:spcBef>
                <a:spcPts val="0"/>
              </a:spcBef>
              <a:spcAft>
                <a:spcPts val="0"/>
              </a:spcAft>
              <a:buSzPts val="5000"/>
              <a:buNone/>
              <a:defRPr sz="6667"/>
            </a:lvl3pPr>
            <a:lvl4pPr lvl="3" algn="l">
              <a:lnSpc>
                <a:spcPct val="100000"/>
              </a:lnSpc>
              <a:spcBef>
                <a:spcPts val="0"/>
              </a:spcBef>
              <a:spcAft>
                <a:spcPts val="0"/>
              </a:spcAft>
              <a:buSzPts val="5000"/>
              <a:buNone/>
              <a:defRPr sz="6667"/>
            </a:lvl4pPr>
            <a:lvl5pPr lvl="4" algn="l">
              <a:lnSpc>
                <a:spcPct val="100000"/>
              </a:lnSpc>
              <a:spcBef>
                <a:spcPts val="0"/>
              </a:spcBef>
              <a:spcAft>
                <a:spcPts val="0"/>
              </a:spcAft>
              <a:buSzPts val="5000"/>
              <a:buNone/>
              <a:defRPr sz="6667"/>
            </a:lvl5pPr>
            <a:lvl6pPr lvl="5" algn="l">
              <a:lnSpc>
                <a:spcPct val="100000"/>
              </a:lnSpc>
              <a:spcBef>
                <a:spcPts val="0"/>
              </a:spcBef>
              <a:spcAft>
                <a:spcPts val="0"/>
              </a:spcAft>
              <a:buSzPts val="5000"/>
              <a:buNone/>
              <a:defRPr sz="6667"/>
            </a:lvl6pPr>
            <a:lvl7pPr lvl="6" algn="l">
              <a:lnSpc>
                <a:spcPct val="100000"/>
              </a:lnSpc>
              <a:spcBef>
                <a:spcPts val="0"/>
              </a:spcBef>
              <a:spcAft>
                <a:spcPts val="0"/>
              </a:spcAft>
              <a:buSzPts val="5000"/>
              <a:buNone/>
              <a:defRPr sz="6667"/>
            </a:lvl7pPr>
            <a:lvl8pPr lvl="7" algn="l">
              <a:lnSpc>
                <a:spcPct val="100000"/>
              </a:lnSpc>
              <a:spcBef>
                <a:spcPts val="0"/>
              </a:spcBef>
              <a:spcAft>
                <a:spcPts val="0"/>
              </a:spcAft>
              <a:buSzPts val="5000"/>
              <a:buNone/>
              <a:defRPr sz="6667"/>
            </a:lvl8pPr>
            <a:lvl9pPr lvl="8" algn="l">
              <a:lnSpc>
                <a:spcPct val="100000"/>
              </a:lnSpc>
              <a:spcBef>
                <a:spcPts val="0"/>
              </a:spcBef>
              <a:spcAft>
                <a:spcPts val="0"/>
              </a:spcAft>
              <a:buSzPts val="5000"/>
              <a:buNone/>
              <a:defRPr sz="6667"/>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7"/>
        <p:cNvGrpSpPr/>
        <p:nvPr/>
      </p:nvGrpSpPr>
      <p:grpSpPr>
        <a:xfrm>
          <a:off x="0" y="0"/>
          <a:ext cx="0" cy="0"/>
          <a:chOff x="0" y="0"/>
          <a:chExt cx="0" cy="0"/>
        </a:xfrm>
      </p:grpSpPr>
      <p:sp>
        <p:nvSpPr>
          <p:cNvPr id="18" name="Google Shape;18;p18"/>
          <p:cNvSpPr txBox="1">
            <a:spLocks noGrp="1"/>
          </p:cNvSpPr>
          <p:nvPr>
            <p:ph type="ctrTitle"/>
          </p:nvPr>
        </p:nvSpPr>
        <p:spPr>
          <a:xfrm>
            <a:off x="2040233" y="3077051"/>
            <a:ext cx="9022800" cy="709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3000"/>
              <a:buFont typeface="Calibri"/>
              <a:buNone/>
              <a:defRPr sz="4000"/>
            </a:lvl1pPr>
            <a:lvl2pPr lvl="1" algn="l">
              <a:lnSpc>
                <a:spcPct val="100000"/>
              </a:lnSpc>
              <a:spcBef>
                <a:spcPts val="0"/>
              </a:spcBef>
              <a:spcAft>
                <a:spcPts val="0"/>
              </a:spcAft>
              <a:buSzPts val="3000"/>
              <a:buNone/>
              <a:defRPr sz="4000"/>
            </a:lvl2pPr>
            <a:lvl3pPr lvl="2" algn="l">
              <a:lnSpc>
                <a:spcPct val="100000"/>
              </a:lnSpc>
              <a:spcBef>
                <a:spcPts val="0"/>
              </a:spcBef>
              <a:spcAft>
                <a:spcPts val="0"/>
              </a:spcAft>
              <a:buSzPts val="3000"/>
              <a:buNone/>
              <a:defRPr sz="4000"/>
            </a:lvl3pPr>
            <a:lvl4pPr lvl="3" algn="l">
              <a:lnSpc>
                <a:spcPct val="100000"/>
              </a:lnSpc>
              <a:spcBef>
                <a:spcPts val="0"/>
              </a:spcBef>
              <a:spcAft>
                <a:spcPts val="0"/>
              </a:spcAft>
              <a:buSzPts val="3000"/>
              <a:buNone/>
              <a:defRPr sz="4000"/>
            </a:lvl4pPr>
            <a:lvl5pPr lvl="4" algn="l">
              <a:lnSpc>
                <a:spcPct val="100000"/>
              </a:lnSpc>
              <a:spcBef>
                <a:spcPts val="0"/>
              </a:spcBef>
              <a:spcAft>
                <a:spcPts val="0"/>
              </a:spcAft>
              <a:buSzPts val="3000"/>
              <a:buNone/>
              <a:defRPr sz="4000"/>
            </a:lvl5pPr>
            <a:lvl6pPr lvl="5" algn="l">
              <a:lnSpc>
                <a:spcPct val="100000"/>
              </a:lnSpc>
              <a:spcBef>
                <a:spcPts val="0"/>
              </a:spcBef>
              <a:spcAft>
                <a:spcPts val="0"/>
              </a:spcAft>
              <a:buSzPts val="3000"/>
              <a:buNone/>
              <a:defRPr sz="4000"/>
            </a:lvl6pPr>
            <a:lvl7pPr lvl="6" algn="l">
              <a:lnSpc>
                <a:spcPct val="100000"/>
              </a:lnSpc>
              <a:spcBef>
                <a:spcPts val="0"/>
              </a:spcBef>
              <a:spcAft>
                <a:spcPts val="0"/>
              </a:spcAft>
              <a:buSzPts val="3000"/>
              <a:buNone/>
              <a:defRPr sz="4000"/>
            </a:lvl7pPr>
            <a:lvl8pPr lvl="7" algn="l">
              <a:lnSpc>
                <a:spcPct val="100000"/>
              </a:lnSpc>
              <a:spcBef>
                <a:spcPts val="0"/>
              </a:spcBef>
              <a:spcAft>
                <a:spcPts val="0"/>
              </a:spcAft>
              <a:buSzPts val="3000"/>
              <a:buNone/>
              <a:defRPr sz="4000"/>
            </a:lvl8pPr>
            <a:lvl9pPr lvl="8" algn="l">
              <a:lnSpc>
                <a:spcPct val="100000"/>
              </a:lnSpc>
              <a:spcBef>
                <a:spcPts val="0"/>
              </a:spcBef>
              <a:spcAft>
                <a:spcPts val="0"/>
              </a:spcAft>
              <a:buSzPts val="3000"/>
              <a:buNone/>
              <a:defRPr sz="4000"/>
            </a:lvl9pPr>
          </a:lstStyle>
          <a:p>
            <a:endParaRPr/>
          </a:p>
        </p:txBody>
      </p:sp>
      <p:sp>
        <p:nvSpPr>
          <p:cNvPr id="19" name="Google Shape;19;p18"/>
          <p:cNvSpPr txBox="1">
            <a:spLocks noGrp="1"/>
          </p:cNvSpPr>
          <p:nvPr>
            <p:ph type="subTitle" idx="1"/>
          </p:nvPr>
        </p:nvSpPr>
        <p:spPr>
          <a:xfrm>
            <a:off x="2089768" y="3710551"/>
            <a:ext cx="9237200" cy="470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1"/>
              </a:buClr>
              <a:buSzPts val="1800"/>
              <a:buNone/>
              <a:defRPr sz="2400"/>
            </a:lvl1pPr>
            <a:lvl2pPr lvl="1" algn="l">
              <a:lnSpc>
                <a:spcPct val="100000"/>
              </a:lnSpc>
              <a:spcBef>
                <a:spcPts val="0"/>
              </a:spcBef>
              <a:spcAft>
                <a:spcPts val="0"/>
              </a:spcAft>
              <a:buClr>
                <a:schemeClr val="dk1"/>
              </a:buClr>
              <a:buSzPts val="1800"/>
              <a:buNone/>
              <a:defRPr sz="2400"/>
            </a:lvl2pPr>
            <a:lvl3pPr lvl="2" algn="l">
              <a:lnSpc>
                <a:spcPct val="100000"/>
              </a:lnSpc>
              <a:spcBef>
                <a:spcPts val="0"/>
              </a:spcBef>
              <a:spcAft>
                <a:spcPts val="0"/>
              </a:spcAft>
              <a:buClr>
                <a:schemeClr val="dk1"/>
              </a:buClr>
              <a:buSzPts val="1800"/>
              <a:buNone/>
              <a:defRPr sz="2400"/>
            </a:lvl3pPr>
            <a:lvl4pPr lvl="3" algn="l">
              <a:lnSpc>
                <a:spcPct val="100000"/>
              </a:lnSpc>
              <a:spcBef>
                <a:spcPts val="0"/>
              </a:spcBef>
              <a:spcAft>
                <a:spcPts val="0"/>
              </a:spcAft>
              <a:buClr>
                <a:schemeClr val="dk1"/>
              </a:buClr>
              <a:buSzPts val="2400"/>
              <a:buNone/>
              <a:defRPr/>
            </a:lvl4pPr>
            <a:lvl5pPr lvl="4" algn="l">
              <a:lnSpc>
                <a:spcPct val="100000"/>
              </a:lnSpc>
              <a:spcBef>
                <a:spcPts val="0"/>
              </a:spcBef>
              <a:spcAft>
                <a:spcPts val="0"/>
              </a:spcAft>
              <a:buClr>
                <a:schemeClr val="dk1"/>
              </a:buClr>
              <a:buSzPts val="2400"/>
              <a:buNone/>
              <a:defRPr/>
            </a:lvl5pPr>
            <a:lvl6pPr lvl="5" algn="l">
              <a:lnSpc>
                <a:spcPct val="100000"/>
              </a:lnSpc>
              <a:spcBef>
                <a:spcPts val="0"/>
              </a:spcBef>
              <a:spcAft>
                <a:spcPts val="0"/>
              </a:spcAft>
              <a:buClr>
                <a:schemeClr val="dk1"/>
              </a:buClr>
              <a:buSzPts val="2400"/>
              <a:buNone/>
              <a:defRPr/>
            </a:lvl6pPr>
            <a:lvl7pPr lvl="6" algn="l">
              <a:lnSpc>
                <a:spcPct val="100000"/>
              </a:lnSpc>
              <a:spcBef>
                <a:spcPts val="0"/>
              </a:spcBef>
              <a:spcAft>
                <a:spcPts val="0"/>
              </a:spcAft>
              <a:buClr>
                <a:schemeClr val="dk1"/>
              </a:buClr>
              <a:buSzPts val="2400"/>
              <a:buNone/>
              <a:defRPr/>
            </a:lvl7pPr>
            <a:lvl8pPr lvl="7" algn="l">
              <a:lnSpc>
                <a:spcPct val="100000"/>
              </a:lnSpc>
              <a:spcBef>
                <a:spcPts val="0"/>
              </a:spcBef>
              <a:spcAft>
                <a:spcPts val="0"/>
              </a:spcAft>
              <a:buClr>
                <a:schemeClr val="dk1"/>
              </a:buClr>
              <a:buSzPts val="2400"/>
              <a:buNone/>
              <a:defRPr/>
            </a:lvl8pPr>
            <a:lvl9pPr lvl="8" algn="l">
              <a:lnSpc>
                <a:spcPct val="100000"/>
              </a:lnSpc>
              <a:spcBef>
                <a:spcPts val="0"/>
              </a:spcBef>
              <a:spcAft>
                <a:spcPts val="0"/>
              </a:spcAft>
              <a:buClr>
                <a:schemeClr val="dk1"/>
              </a:buClr>
              <a:buSzPts val="2400"/>
              <a:buNone/>
              <a:defRPr/>
            </a:lvl9pPr>
          </a:lstStyle>
          <a:p>
            <a:endParaRPr/>
          </a:p>
        </p:txBody>
      </p:sp>
      <p:sp>
        <p:nvSpPr>
          <p:cNvPr id="20" name="Google Shape;20;p18"/>
          <p:cNvSpPr txBox="1">
            <a:spLocks noGrp="1"/>
          </p:cNvSpPr>
          <p:nvPr>
            <p:ph type="sldNum" idx="12"/>
          </p:nvPr>
        </p:nvSpPr>
        <p:spPr>
          <a:xfrm>
            <a:off x="11364209" y="6336175"/>
            <a:ext cx="731600" cy="4204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1pPr>
            <a:lvl2pPr marL="0" marR="0" lvl="1"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2pPr>
            <a:lvl3pPr marL="0" marR="0" lvl="2"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3pPr>
            <a:lvl4pPr marL="0" marR="0" lvl="3"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4pPr>
            <a:lvl5pPr marL="0" marR="0" lvl="4"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5pPr>
            <a:lvl6pPr marL="0" marR="0" lvl="5"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6pPr>
            <a:lvl7pPr marL="0" marR="0" lvl="6"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7pPr>
            <a:lvl8pPr marL="0" marR="0" lvl="7"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8pPr>
            <a:lvl9pPr marL="0" marR="0" lvl="8" indent="0" algn="r">
              <a:lnSpc>
                <a:spcPct val="100000"/>
              </a:lnSpc>
              <a:spcBef>
                <a:spcPts val="0"/>
              </a:spcBef>
              <a:spcAft>
                <a:spcPts val="0"/>
              </a:spcAft>
              <a:buClr>
                <a:srgbClr val="000000"/>
              </a:buClr>
              <a:buSzPts val="1200"/>
              <a:buFont typeface="Arial"/>
              <a:buNone/>
              <a:defRPr sz="1600" b="0" i="0" u="none" strike="noStrike" cap="none">
                <a:solidFill>
                  <a:schemeClr val="accent1"/>
                </a:solidFill>
                <a:latin typeface="Quicksand"/>
                <a:ea typeface="Quicksand"/>
                <a:cs typeface="Quicksand"/>
                <a:sym typeface="Quicksand"/>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endParaRPr lang="en-US"/>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a:t>
            </a:fld>
            <a:endParaRPr lang="en-US"/>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hyperlink" Target="mailto:ankush@ihubiitmandi.in" TargetMode="External"/><Relationship Id="rId2" Type="http://schemas.openxmlformats.org/officeDocument/2006/relationships/notesSlide" Target="../notesSlides/notesSlide26.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8" name="TextBox 7"/>
          <p:cNvSpPr txBox="1"/>
          <p:nvPr/>
        </p:nvSpPr>
        <p:spPr>
          <a:xfrm>
            <a:off x="0" y="0"/>
            <a:ext cx="12192000" cy="6934200"/>
          </a:xfrm>
          <a:prstGeom prst="rect">
            <a:avLst/>
          </a:prstGeom>
          <a:solidFill>
            <a:schemeClr val="tx1">
              <a:lumMod val="85000"/>
              <a:lumOff val="15000"/>
            </a:schemeClr>
          </a:solid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248" name="Google Shape;248;p2"/>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250" name="Google Shape;250;p2"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pic>
        <p:nvPicPr>
          <p:cNvPr id="1026" name="Picture 2" descr="C:\Users\HP\Pictures\Screenshots\Screenshot (13).png"/>
          <p:cNvPicPr>
            <a:picLocks noChangeAspect="1" noChangeArrowheads="1"/>
          </p:cNvPicPr>
          <p:nvPr/>
        </p:nvPicPr>
        <p:blipFill>
          <a:blip r:embed="rId5"/>
          <a:srcRect/>
          <a:stretch>
            <a:fillRect/>
          </a:stretch>
        </p:blipFill>
        <p:spPr bwMode="auto">
          <a:xfrm>
            <a:off x="685800" y="1676400"/>
            <a:ext cx="10841966" cy="4876800"/>
          </a:xfrm>
          <a:prstGeom prst="rect">
            <a:avLst/>
          </a:prstGeom>
          <a:noFill/>
        </p:spPr>
      </p:pic>
      <p:pic>
        <p:nvPicPr>
          <p:cNvPr id="1027" name="Picture 3" descr="C:\xampp\htdocs\php\logo4.png"/>
          <p:cNvPicPr>
            <a:picLocks noChangeAspect="1" noChangeArrowheads="1"/>
          </p:cNvPicPr>
          <p:nvPr/>
        </p:nvPicPr>
        <p:blipFill>
          <a:blip r:embed="rId6"/>
          <a:srcRect/>
          <a:stretch>
            <a:fillRect/>
          </a:stretch>
        </p:blipFill>
        <p:spPr bwMode="auto">
          <a:xfrm>
            <a:off x="2895600" y="228600"/>
            <a:ext cx="6858000" cy="1400175"/>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
          <p:cNvSpPr txBox="1">
            <a:spLocks noGrp="1"/>
          </p:cNvSpPr>
          <p:nvPr>
            <p:ph type="ctrTitle"/>
          </p:nvPr>
        </p:nvSpPr>
        <p:spPr>
          <a:xfrm>
            <a:off x="1405505" y="685800"/>
            <a:ext cx="9380990" cy="70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000" b="1" dirty="0">
                <a:latin typeface="Tahoma" panose="020B0604030504040204" pitchFamily="34" charset="0"/>
                <a:ea typeface="Tahoma" panose="020B0604030504040204" pitchFamily="34" charset="0"/>
                <a:cs typeface="Tahoma" panose="020B0604030504040204" pitchFamily="34" charset="0"/>
                <a:sym typeface="Tahoma"/>
              </a:rPr>
              <a:t>Brief description of the idea/project/venture</a:t>
            </a:r>
            <a:endParaRPr sz="3000" dirty="0">
              <a:latin typeface="Tahoma" panose="020B0604030504040204" pitchFamily="34" charset="0"/>
              <a:ea typeface="Tahoma" panose="020B0604030504040204" pitchFamily="34" charset="0"/>
              <a:cs typeface="Tahoma" panose="020B0604030504040204" pitchFamily="34" charset="0"/>
            </a:endParaRPr>
          </a:p>
        </p:txBody>
      </p:sp>
      <p:sp>
        <p:nvSpPr>
          <p:cNvPr id="257" name="Google Shape;257;p3"/>
          <p:cNvSpPr txBox="1">
            <a:spLocks noGrp="1"/>
          </p:cNvSpPr>
          <p:nvPr>
            <p:ph type="subTitle" idx="1"/>
          </p:nvPr>
        </p:nvSpPr>
        <p:spPr>
          <a:xfrm>
            <a:off x="873636" y="1626675"/>
            <a:ext cx="10540382" cy="3604649"/>
          </a:xfrm>
          <a:prstGeom prst="rect">
            <a:avLst/>
          </a:prstGeom>
          <a:noFill/>
          <a:ln>
            <a:noFill/>
          </a:ln>
        </p:spPr>
        <p:txBody>
          <a:bodyPr spcFirstLastPara="1" wrap="square" lIns="91425" tIns="91425" rIns="91425" bIns="91425" anchor="t" anchorCtr="0">
            <a:noAutofit/>
          </a:bodyPr>
          <a:lstStyle/>
          <a:p>
            <a:pPr marL="0" lvl="0" indent="0" algn="just"/>
            <a:r>
              <a:rPr lang="en-US" sz="2000" dirty="0">
                <a:cs typeface="Times New Roman" panose="02020603050405020304" pitchFamily="18" charset="0"/>
              </a:rPr>
              <a:t>Dropizi is a modern parcel delivery service connecting users who need to send items with travelers heading in the same direction, using real-world travel routes for efficient, cost-effective deliveries. It offers an easy-to-use interface for scheduling pickups, real-time shipment tracking, and tailored pricing, ensuring a smooth experience. Dropizi solves key problems faced by traditional courier services like DHL and Ekart, such as delays, high costs, mishandling, and security breaches. By utilizing shared travel routes, it provides a faster, more secure, and affordable alternative additionally, its LLM-based chatbot offers real-time support, enhancing user experience. Dropizi aims to replace traditional courier partners, promoting sustainability and efficiency in parcel delivery.</a:t>
            </a:r>
            <a:endParaRPr sz="2000" dirty="0">
              <a:cs typeface="Times New Roman" panose="02020603050405020304" pitchFamily="18" charset="0"/>
            </a:endParaRPr>
          </a:p>
        </p:txBody>
      </p:sp>
      <p:pic>
        <p:nvPicPr>
          <p:cNvPr id="256" name="Google Shape;256;p3"/>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258" name="Google Shape;258;p3"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
          <p:cNvSpPr txBox="1">
            <a:spLocks noGrp="1"/>
          </p:cNvSpPr>
          <p:nvPr>
            <p:ph type="ctrTitle"/>
          </p:nvPr>
        </p:nvSpPr>
        <p:spPr>
          <a:xfrm>
            <a:off x="1832115" y="595971"/>
            <a:ext cx="8397600" cy="70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b="1" dirty="0">
                <a:latin typeface="Tahoma" panose="020B0604030504040204" pitchFamily="34" charset="0"/>
                <a:ea typeface="Tahoma" panose="020B0604030504040204" pitchFamily="34" charset="0"/>
                <a:cs typeface="Tahoma" panose="020B0604030504040204" pitchFamily="34" charset="0"/>
                <a:sym typeface="Tahoma"/>
              </a:rPr>
              <a:t>Context/</a:t>
            </a:r>
            <a:r>
              <a:rPr lang="en-US" sz="3600" b="1" dirty="0">
                <a:latin typeface="Tahoma" panose="020B0604030504040204" pitchFamily="34" charset="0"/>
                <a:ea typeface="Tahoma" panose="020B0604030504040204" pitchFamily="34" charset="0"/>
                <a:cs typeface="Tahoma" panose="020B0604030504040204" pitchFamily="34" charset="0"/>
                <a:sym typeface="Tahoma"/>
              </a:rPr>
              <a:t>Background</a:t>
            </a:r>
            <a:endParaRPr b="1" dirty="0">
              <a:latin typeface="Tahoma" panose="020B0604030504040204" pitchFamily="34" charset="0"/>
              <a:ea typeface="Tahoma" panose="020B0604030504040204" pitchFamily="34" charset="0"/>
              <a:cs typeface="Tahoma" panose="020B0604030504040204" pitchFamily="34" charset="0"/>
              <a:sym typeface="Tahoma"/>
            </a:endParaRPr>
          </a:p>
        </p:txBody>
      </p:sp>
      <p:sp>
        <p:nvSpPr>
          <p:cNvPr id="265" name="Google Shape;265;p4"/>
          <p:cNvSpPr txBox="1">
            <a:spLocks noGrp="1"/>
          </p:cNvSpPr>
          <p:nvPr>
            <p:ph type="subTitle" idx="1"/>
          </p:nvPr>
        </p:nvSpPr>
        <p:spPr>
          <a:xfrm>
            <a:off x="999703" y="1618262"/>
            <a:ext cx="10192594" cy="2825505"/>
          </a:xfrm>
          <a:prstGeom prst="rect">
            <a:avLst/>
          </a:prstGeom>
          <a:noFill/>
          <a:ln>
            <a:noFill/>
          </a:ln>
        </p:spPr>
        <p:txBody>
          <a:bodyPr spcFirstLastPara="1" wrap="square" lIns="91425" tIns="91425" rIns="91425" bIns="91425" anchor="t" anchorCtr="0">
            <a:noAutofit/>
          </a:bodyPr>
          <a:lstStyle/>
          <a:p>
            <a:pPr marL="0" lvl="0" indent="0" algn="just"/>
            <a:r>
              <a:rPr lang="en-US" sz="2000" dirty="0">
                <a:cs typeface="Times New Roman" panose="02020603050405020304" pitchFamily="18" charset="0"/>
              </a:rPr>
              <a:t>The Dropizi proposal fits into the Human-Computer Interaction (HCI) domain by focusing on user-centered design, intuitive interaction, and accessibility. It offers a simple interface for scheduling and tracking deliveries, utilizing geolocation-based services to suggest nearby hubs and optimize routes. Dropizi enhances user experience through its LLM-based chatbot, providing real-time support and reducing the need for human assistance. The platform emphasizes responsive design, ensuring usability across devices. By promoting sustainable delivery practices and maintaining transparency in data usage, Dropizi aligns with key HCI principles of usability, accessibility, and ethical design.</a:t>
            </a:r>
            <a:endParaRPr sz="2000" dirty="0">
              <a:cs typeface="Times New Roman" panose="02020603050405020304" pitchFamily="18" charset="0"/>
            </a:endParaRPr>
          </a:p>
        </p:txBody>
      </p:sp>
      <p:pic>
        <p:nvPicPr>
          <p:cNvPr id="264" name="Google Shape;264;p4"/>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266" name="Google Shape;266;p4"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6"/>
          <p:cNvSpPr txBox="1">
            <a:spLocks noGrp="1"/>
          </p:cNvSpPr>
          <p:nvPr>
            <p:ph type="ctrTitle"/>
          </p:nvPr>
        </p:nvSpPr>
        <p:spPr>
          <a:xfrm>
            <a:off x="1813200" y="457200"/>
            <a:ext cx="8397600" cy="84421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600" b="1" dirty="0">
                <a:latin typeface="Times New Roman" panose="02020603050405020304" pitchFamily="18" charset="0"/>
                <a:ea typeface="Tahoma"/>
                <a:cs typeface="Times New Roman" panose="02020603050405020304" pitchFamily="18" charset="0"/>
                <a:sym typeface="Tahoma"/>
              </a:rPr>
              <a:t>Proposed Solution</a:t>
            </a:r>
            <a:endParaRPr sz="3600" b="1" dirty="0">
              <a:latin typeface="Times New Roman" panose="02020603050405020304" pitchFamily="18" charset="0"/>
              <a:ea typeface="Tahoma"/>
              <a:cs typeface="Times New Roman" panose="02020603050405020304" pitchFamily="18" charset="0"/>
              <a:sym typeface="Tahoma"/>
            </a:endParaRPr>
          </a:p>
        </p:txBody>
      </p:sp>
      <p:sp>
        <p:nvSpPr>
          <p:cNvPr id="281" name="Google Shape;281;p6"/>
          <p:cNvSpPr txBox="1">
            <a:spLocks noGrp="1"/>
          </p:cNvSpPr>
          <p:nvPr>
            <p:ph type="subTitle" idx="1"/>
          </p:nvPr>
        </p:nvSpPr>
        <p:spPr>
          <a:xfrm>
            <a:off x="762000" y="1440180"/>
            <a:ext cx="10668000" cy="4274819"/>
          </a:xfrm>
          <a:prstGeom prst="rect">
            <a:avLst/>
          </a:prstGeom>
          <a:noFill/>
          <a:ln>
            <a:noFill/>
          </a:ln>
        </p:spPr>
        <p:txBody>
          <a:bodyPr spcFirstLastPara="1" wrap="square" lIns="91425" tIns="91425" rIns="91425" bIns="91425" anchor="t" anchorCtr="0">
            <a:noAutofit/>
          </a:bodyPr>
          <a:lstStyle/>
          <a:p>
            <a:pPr marL="0" lvl="0" indent="0" algn="just"/>
            <a:r>
              <a:rPr lang="en-US" sz="2000" dirty="0">
                <a:cs typeface="Times New Roman" panose="02020603050405020304" pitchFamily="18" charset="0"/>
              </a:rPr>
              <a:t>Dropizi offers a modern parcel delivery service designed to overcome the challenges faced by traditional couriers. By connecting senders with travelers using real-world travel routes, Dropizi ensures faster and more effective deliveries. The platform utilizes a hub-based system to facilitate secure handling of parcels, minimizing the risk of mishandling and damage during transit.</a:t>
            </a:r>
          </a:p>
          <a:p>
            <a:pPr marL="0" lvl="0" indent="0" algn="just"/>
            <a:endParaRPr lang="en-US" sz="2000" dirty="0">
              <a:cs typeface="Times New Roman" panose="02020603050405020304" pitchFamily="18" charset="0"/>
            </a:endParaRPr>
          </a:p>
          <a:p>
            <a:pPr marL="0" lvl="0" indent="0" algn="just"/>
            <a:r>
              <a:rPr lang="en-US" sz="2000" dirty="0">
                <a:cs typeface="Times New Roman" panose="02020603050405020304" pitchFamily="18" charset="0"/>
              </a:rPr>
              <a:t>To enhance security, Dropizi provides real-time tracking, allowing users to monitor their shipments and address any concerns about loss or theft. Additionally, the integration of an LLM-based chatbot offers 24/7 support, ensuring users can access information and assistance regarding their deliveries at any time.</a:t>
            </a:r>
          </a:p>
          <a:p>
            <a:pPr marL="0" lvl="0" indent="0" algn="just"/>
            <a:endParaRPr lang="en-US" sz="2000" dirty="0">
              <a:cs typeface="Times New Roman" panose="02020603050405020304" pitchFamily="18" charset="0"/>
            </a:endParaRPr>
          </a:p>
          <a:p>
            <a:pPr marL="0" lvl="0" indent="0" algn="just"/>
            <a:r>
              <a:rPr lang="en-US" sz="2000" dirty="0">
                <a:cs typeface="Times New Roman" panose="02020603050405020304" pitchFamily="18" charset="0"/>
              </a:rPr>
              <a:t>With a focus on efficiency, security, and user engagement, Dropizi stands as a reliable and sustainable alternative to traditional courier services, addressing key pain points while promoting eco-friendly practices in parcel delivery.</a:t>
            </a:r>
            <a:endParaRPr sz="2000" dirty="0">
              <a:cs typeface="Times New Roman" panose="02020603050405020304" pitchFamily="18" charset="0"/>
            </a:endParaRPr>
          </a:p>
        </p:txBody>
      </p:sp>
      <p:pic>
        <p:nvPicPr>
          <p:cNvPr id="280" name="Google Shape;280;p6"/>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282" name="Google Shape;282;p6"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7"/>
          <p:cNvSpPr txBox="1">
            <a:spLocks noGrp="1"/>
          </p:cNvSpPr>
          <p:nvPr>
            <p:ph type="ctrTitle"/>
          </p:nvPr>
        </p:nvSpPr>
        <p:spPr>
          <a:xfrm>
            <a:off x="1743626" y="244017"/>
            <a:ext cx="8397600" cy="84421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600" b="1" dirty="0">
                <a:latin typeface="Tahoma" panose="020B0604030504040204" pitchFamily="34" charset="0"/>
                <a:ea typeface="Tahoma" panose="020B0604030504040204" pitchFamily="34" charset="0"/>
                <a:cs typeface="Tahoma" panose="020B0604030504040204" pitchFamily="34" charset="0"/>
                <a:sym typeface="Tahoma"/>
              </a:rPr>
              <a:t>Team</a:t>
            </a:r>
            <a:endParaRPr sz="3600" b="1" dirty="0">
              <a:latin typeface="Tahoma" panose="020B0604030504040204" pitchFamily="34" charset="0"/>
              <a:ea typeface="Tahoma" panose="020B0604030504040204" pitchFamily="34" charset="0"/>
              <a:cs typeface="Tahoma" panose="020B0604030504040204" pitchFamily="34" charset="0"/>
              <a:sym typeface="Tahoma"/>
            </a:endParaRPr>
          </a:p>
        </p:txBody>
      </p:sp>
      <p:sp>
        <p:nvSpPr>
          <p:cNvPr id="289" name="Google Shape;289;p7"/>
          <p:cNvSpPr txBox="1">
            <a:spLocks noGrp="1"/>
          </p:cNvSpPr>
          <p:nvPr>
            <p:ph type="subTitle" idx="1"/>
          </p:nvPr>
        </p:nvSpPr>
        <p:spPr>
          <a:xfrm>
            <a:off x="1066800" y="1219200"/>
            <a:ext cx="4800600" cy="5394783"/>
          </a:xfrm>
          <a:prstGeom prst="rect">
            <a:avLst/>
          </a:prstGeom>
          <a:noFill/>
          <a:ln>
            <a:noFill/>
          </a:ln>
        </p:spPr>
        <p:txBody>
          <a:bodyPr spcFirstLastPara="1" wrap="square" lIns="91425" tIns="91425" rIns="91425" bIns="91425" anchor="t" anchorCtr="0">
            <a:noAutofit/>
          </a:bodyPr>
          <a:lstStyle/>
          <a:p>
            <a:pPr marL="228600" lvl="0" indent="-228600" algn="just"/>
            <a:r>
              <a:rPr lang="en-US" sz="2000" b="1" dirty="0">
                <a:cs typeface="Times New Roman" panose="02020603050405020304" pitchFamily="18" charset="0"/>
              </a:rPr>
              <a:t>	Mr Kamal Kumar Gola</a:t>
            </a:r>
          </a:p>
          <a:p>
            <a:pPr marL="228600" lvl="0" indent="-228600" algn="just"/>
            <a:r>
              <a:rPr lang="en-US" sz="2000" i="1" dirty="0">
                <a:cs typeface="Times New Roman" panose="02020603050405020304" pitchFamily="18" charset="0"/>
              </a:rPr>
              <a:t>	Project Supervisor</a:t>
            </a:r>
          </a:p>
          <a:p>
            <a:pPr marL="228600" lvl="0" indent="-228600" algn="just"/>
            <a:r>
              <a:rPr lang="en-US" sz="2000" b="1" dirty="0">
                <a:cs typeface="Times New Roman" panose="02020603050405020304" pitchFamily="18" charset="0"/>
              </a:rPr>
              <a:t>	Institute:</a:t>
            </a:r>
            <a:r>
              <a:rPr lang="en-US" sz="2000" dirty="0">
                <a:cs typeface="Times New Roman" panose="02020603050405020304" pitchFamily="18" charset="0"/>
              </a:rPr>
              <a:t> IIT Jodhpur, Rajasthan</a:t>
            </a:r>
          </a:p>
          <a:p>
            <a:pPr marL="228600" lvl="0" indent="-228600" algn="just"/>
            <a:r>
              <a:rPr lang="en-US" sz="1800" dirty="0">
                <a:cs typeface="Times New Roman" panose="02020603050405020304" pitchFamily="18" charset="0"/>
              </a:rPr>
              <a:t>    Mr Kamal is a PhD student at IIT Jodhpur who provides supervision and guidance for the Dropizi project. His expertise in Human-Computer Interaction and research methodologies helps shape the project’s direction and ensures alignment with academic standards</a:t>
            </a:r>
          </a:p>
          <a:p>
            <a:pPr marL="228600" lvl="0" indent="-228600" algn="just"/>
            <a:endParaRPr lang="en-US" sz="2000" dirty="0">
              <a:cs typeface="Times New Roman" panose="02020603050405020304" pitchFamily="18" charset="0"/>
            </a:endParaRPr>
          </a:p>
          <a:p>
            <a:pPr marL="228600" lvl="0" indent="-228600" algn="just"/>
            <a:r>
              <a:rPr lang="en-US" sz="2000" b="1" dirty="0">
                <a:cs typeface="Times New Roman" panose="02020603050405020304" pitchFamily="18" charset="0"/>
              </a:rPr>
              <a:t>	Bittu Verma</a:t>
            </a:r>
          </a:p>
          <a:p>
            <a:pPr marL="228600" lvl="0" indent="-228600" algn="just"/>
            <a:r>
              <a:rPr lang="en-US" sz="2000" i="1" dirty="0">
                <a:cs typeface="Times New Roman" panose="02020603050405020304" pitchFamily="18" charset="0"/>
              </a:rPr>
              <a:t>	Project Lead &amp; Software Developer</a:t>
            </a:r>
          </a:p>
          <a:p>
            <a:pPr marL="228600" lvl="0" indent="-228600" algn="just"/>
            <a:r>
              <a:rPr lang="en-US" sz="2000" b="1" dirty="0">
                <a:cs typeface="Times New Roman" panose="02020603050405020304" pitchFamily="18" charset="0"/>
              </a:rPr>
              <a:t>	Institute:</a:t>
            </a:r>
            <a:r>
              <a:rPr lang="en-US" sz="2000" dirty="0">
                <a:cs typeface="Times New Roman" panose="02020603050405020304" pitchFamily="18" charset="0"/>
              </a:rPr>
              <a:t> COER University</a:t>
            </a:r>
          </a:p>
          <a:p>
            <a:pPr marL="228600" lvl="0" indent="-228600" algn="just"/>
            <a:r>
              <a:rPr lang="en-US" sz="1800" dirty="0">
                <a:cs typeface="Times New Roman" panose="02020603050405020304" pitchFamily="18" charset="0"/>
              </a:rPr>
              <a:t>    Bittu is a Junior Software Developer with expertise in web technologies, including PHP, HTML, CSS, and JavaScript. He oversees the overall development of Dropizi, ensuring a user-centered design and smooth functionality across the platform</a:t>
            </a:r>
            <a:r>
              <a:rPr lang="en-US" sz="2000" dirty="0">
                <a:cs typeface="Times New Roman" panose="02020603050405020304" pitchFamily="18" charset="0"/>
              </a:rPr>
              <a:t>.</a:t>
            </a:r>
          </a:p>
        </p:txBody>
      </p:sp>
      <p:pic>
        <p:nvPicPr>
          <p:cNvPr id="288" name="Google Shape;288;p7"/>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290" name="Google Shape;290;p7"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
        <p:nvSpPr>
          <p:cNvPr id="6" name="Google Shape;289;p7">
            <a:extLst>
              <a:ext uri="{FF2B5EF4-FFF2-40B4-BE49-F238E27FC236}">
                <a16:creationId xmlns:a16="http://schemas.microsoft.com/office/drawing/2014/main" id="{6F61CB09-49DA-44D5-8A7A-D675799E9335}"/>
              </a:ext>
            </a:extLst>
          </p:cNvPr>
          <p:cNvSpPr txBox="1">
            <a:spLocks/>
          </p:cNvSpPr>
          <p:nvPr/>
        </p:nvSpPr>
        <p:spPr>
          <a:xfrm>
            <a:off x="6248400" y="1219200"/>
            <a:ext cx="4800600" cy="5394783"/>
          </a:xfrm>
          <a:prstGeom prst="rect">
            <a:avLst/>
          </a:prstGeom>
          <a:noFill/>
          <a:ln>
            <a:noFill/>
          </a:ln>
        </p:spPr>
        <p:txBody>
          <a:bodyPr spcFirstLastPara="1" wrap="square" lIns="91425" tIns="91425" rIns="91425" bIns="91425" anchor="t" anchorCtr="0">
            <a:noAutofit/>
          </a:bodyPr>
          <a:lstStyle>
            <a:lvl1pPr marL="274320" lvl="0" indent="-27432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1pPr>
            <a:lvl2pPr marL="548640" lvl="1"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2pPr>
            <a:lvl3pPr marL="822960" lvl="2"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3pPr>
            <a:lvl4pPr marL="1097280" lvl="3" indent="-228600" algn="l" rtl="0" eaLnBrk="1" latinLnBrk="0" hangingPunct="1">
              <a:lnSpc>
                <a:spcPct val="100000"/>
              </a:lnSpc>
              <a:spcBef>
                <a:spcPts val="0"/>
              </a:spcBef>
              <a:spcAft>
                <a:spcPts val="0"/>
              </a:spcAft>
              <a:buClr>
                <a:schemeClr val="dk1"/>
              </a:buClr>
              <a:buSzPts val="2400"/>
              <a:buFont typeface="Wingdings 2"/>
              <a:buNone/>
              <a:defRPr kumimoji="0" sz="2000" kern="1200">
                <a:solidFill>
                  <a:schemeClr val="tx1"/>
                </a:solidFill>
                <a:latin typeface="+mn-lt"/>
                <a:ea typeface="+mn-ea"/>
                <a:cs typeface="+mn-cs"/>
              </a:defRPr>
            </a:lvl4pPr>
            <a:lvl5pPr marL="1371600" lvl="4" indent="-228600" algn="l" rtl="0" eaLnBrk="1" latinLnBrk="0" hangingPunct="1">
              <a:lnSpc>
                <a:spcPct val="100000"/>
              </a:lnSpc>
              <a:spcBef>
                <a:spcPts val="0"/>
              </a:spcBef>
              <a:spcAft>
                <a:spcPts val="0"/>
              </a:spcAft>
              <a:buClr>
                <a:schemeClr val="dk1"/>
              </a:buClr>
              <a:buSzPts val="2400"/>
              <a:buFontTx/>
              <a:buNone/>
              <a:defRPr kumimoji="0" sz="2000" kern="1200">
                <a:solidFill>
                  <a:schemeClr val="tx1"/>
                </a:solidFill>
                <a:latin typeface="+mn-lt"/>
                <a:ea typeface="+mn-ea"/>
                <a:cs typeface="+mn-cs"/>
              </a:defRPr>
            </a:lvl5pPr>
            <a:lvl6pPr marL="1645920" lvl="5" indent="-228600" algn="l" rtl="0" eaLnBrk="1" latinLnBrk="0" hangingPunct="1">
              <a:lnSpc>
                <a:spcPct val="100000"/>
              </a:lnSpc>
              <a:spcBef>
                <a:spcPts val="0"/>
              </a:spcBef>
              <a:spcAft>
                <a:spcPts val="0"/>
              </a:spcAft>
              <a:buClr>
                <a:schemeClr val="dk1"/>
              </a:buClr>
              <a:buSzPts val="2400"/>
              <a:buNone/>
              <a:defRPr kumimoji="0" sz="1800" kern="1200" baseline="0">
                <a:solidFill>
                  <a:schemeClr val="tx1"/>
                </a:solidFill>
                <a:latin typeface="+mn-lt"/>
                <a:ea typeface="+mn-ea"/>
                <a:cs typeface="+mn-cs"/>
              </a:defRPr>
            </a:lvl6pPr>
            <a:lvl7pPr marL="1920240" lvl="6"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7pPr>
            <a:lvl8pPr marL="2194560" lvl="7"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8pPr>
            <a:lvl9pPr marL="2468880" lvl="8"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9pPr>
          </a:lstStyle>
          <a:p>
            <a:pPr marL="228600" lvl="0" indent="-228600" algn="just"/>
            <a:r>
              <a:rPr lang="en-US" sz="2000" b="1" dirty="0">
                <a:cs typeface="Times New Roman" panose="02020603050405020304" pitchFamily="18" charset="0"/>
              </a:rPr>
              <a:t>   	Shiva Sharma</a:t>
            </a:r>
          </a:p>
          <a:p>
            <a:pPr marL="228600" lvl="0" indent="-228600" algn="just"/>
            <a:r>
              <a:rPr lang="en-US" sz="2000" i="1" dirty="0">
                <a:cs typeface="Times New Roman" panose="02020603050405020304" pitchFamily="18" charset="0"/>
              </a:rPr>
              <a:t>	Frontend Developer</a:t>
            </a:r>
          </a:p>
          <a:p>
            <a:pPr marL="228600" lvl="0" indent="-228600" algn="just"/>
            <a:r>
              <a:rPr lang="en-US" sz="2000" b="1" dirty="0">
                <a:cs typeface="Times New Roman" panose="02020603050405020304" pitchFamily="18" charset="0"/>
              </a:rPr>
              <a:t>	Institute:</a:t>
            </a:r>
            <a:r>
              <a:rPr lang="en-US" sz="2000" dirty="0">
                <a:cs typeface="Times New Roman" panose="02020603050405020304" pitchFamily="18" charset="0"/>
              </a:rPr>
              <a:t> COER University</a:t>
            </a:r>
          </a:p>
          <a:p>
            <a:pPr marL="228600" lvl="0" indent="-228600" algn="just"/>
            <a:r>
              <a:rPr lang="en-US" sz="2000" dirty="0">
                <a:cs typeface="Times New Roman" panose="02020603050405020304" pitchFamily="18" charset="0"/>
              </a:rPr>
              <a:t>    </a:t>
            </a:r>
            <a:r>
              <a:rPr lang="en-US" sz="1800" dirty="0">
                <a:cs typeface="Times New Roman" panose="02020603050405020304" pitchFamily="18" charset="0"/>
              </a:rPr>
              <a:t>Shiva is dedicated to crafting an engaging user interface for Dropizi. With skills in responsive design and modern frontend frameworks, he ensures that the platform is visually appealing and accessible on all devices.</a:t>
            </a:r>
          </a:p>
          <a:p>
            <a:pPr marL="228600" lvl="0" indent="-228600" algn="just"/>
            <a:endParaRPr lang="en-US" sz="2000" dirty="0">
              <a:cs typeface="Times New Roman" panose="02020603050405020304" pitchFamily="18" charset="0"/>
            </a:endParaRPr>
          </a:p>
          <a:p>
            <a:pPr marL="228600" lvl="0" indent="-228600" algn="just"/>
            <a:r>
              <a:rPr lang="en-US" sz="2000" b="1" dirty="0">
                <a:cs typeface="Times New Roman" panose="02020603050405020304" pitchFamily="18" charset="0"/>
              </a:rPr>
              <a:t>	Himanshu Singh Bisht</a:t>
            </a:r>
          </a:p>
          <a:p>
            <a:pPr marL="228600" lvl="0" indent="-228600" algn="just"/>
            <a:r>
              <a:rPr lang="en-US" sz="2000" i="1" dirty="0">
                <a:cs typeface="Times New Roman" panose="02020603050405020304" pitchFamily="18" charset="0"/>
              </a:rPr>
              <a:t>	Backend Developer</a:t>
            </a:r>
          </a:p>
          <a:p>
            <a:pPr marL="228600" lvl="0" indent="-228600" algn="just"/>
            <a:r>
              <a:rPr lang="en-US" sz="2000" b="1" dirty="0">
                <a:cs typeface="Times New Roman" panose="02020603050405020304" pitchFamily="18" charset="0"/>
              </a:rPr>
              <a:t>	Institute:</a:t>
            </a:r>
            <a:r>
              <a:rPr lang="en-US" sz="2000" dirty="0">
                <a:cs typeface="Times New Roman" panose="02020603050405020304" pitchFamily="18" charset="0"/>
              </a:rPr>
              <a:t> COER University</a:t>
            </a:r>
          </a:p>
          <a:p>
            <a:pPr marL="228600" indent="-228600" algn="just"/>
            <a:r>
              <a:rPr lang="en-US" sz="2000" dirty="0">
                <a:cs typeface="Times New Roman" panose="02020603050405020304" pitchFamily="18" charset="0"/>
              </a:rPr>
              <a:t>    </a:t>
            </a:r>
            <a:r>
              <a:rPr lang="en-US" sz="1800" dirty="0">
                <a:cs typeface="Times New Roman" panose="02020603050405020304" pitchFamily="18" charset="0"/>
              </a:rPr>
              <a:t>Himanshu Singh Bisht specializes in server-side programming and database management. They are responsible for developing the backend infrastructure of Dropizi, focusing on efficient data handling and secure APIs.</a:t>
            </a:r>
            <a:endParaRPr lang="en-US" sz="2000" dirty="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8"/>
          <p:cNvSpPr txBox="1">
            <a:spLocks noGrp="1"/>
          </p:cNvSpPr>
          <p:nvPr>
            <p:ph type="ctrTitle"/>
          </p:nvPr>
        </p:nvSpPr>
        <p:spPr>
          <a:xfrm>
            <a:off x="1832115" y="595971"/>
            <a:ext cx="8397600" cy="84421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866" b="1" dirty="0">
                <a:latin typeface="Tahoma"/>
                <a:ea typeface="Tahoma"/>
                <a:cs typeface="Tahoma"/>
                <a:sym typeface="Tahoma"/>
              </a:rPr>
              <a:t>Product</a:t>
            </a:r>
            <a:endParaRPr sz="3866" b="1" dirty="0">
              <a:latin typeface="Tahoma"/>
              <a:ea typeface="Tahoma"/>
              <a:cs typeface="Tahoma"/>
              <a:sym typeface="Tahoma"/>
            </a:endParaRPr>
          </a:p>
        </p:txBody>
      </p:sp>
      <p:sp>
        <p:nvSpPr>
          <p:cNvPr id="298" name="Google Shape;298;p8"/>
          <p:cNvSpPr txBox="1">
            <a:spLocks noGrp="1"/>
          </p:cNvSpPr>
          <p:nvPr>
            <p:ph type="subTitle" idx="1"/>
          </p:nvPr>
        </p:nvSpPr>
        <p:spPr>
          <a:xfrm>
            <a:off x="1295400" y="1650087"/>
            <a:ext cx="9598025" cy="4462720"/>
          </a:xfrm>
          <a:prstGeom prst="rect">
            <a:avLst/>
          </a:prstGeom>
          <a:noFill/>
          <a:ln>
            <a:noFill/>
          </a:ln>
        </p:spPr>
        <p:txBody>
          <a:bodyPr spcFirstLastPara="1" wrap="square" lIns="91425" tIns="45700" rIns="91425" bIns="45700" anchor="ctr" anchorCtr="0">
            <a:spAutoFit/>
          </a:bodyPr>
          <a:lstStyle/>
          <a:p>
            <a:pPr marL="0" lvl="0" indent="0" algn="just"/>
            <a:r>
              <a:rPr lang="en-US" sz="2000" b="1" dirty="0"/>
              <a:t>Product Description:</a:t>
            </a:r>
            <a:endParaRPr lang="en-US" sz="2000" dirty="0"/>
          </a:p>
          <a:p>
            <a:pPr marL="0" lvl="0" indent="0" algn="just"/>
            <a:r>
              <a:rPr lang="en-US" sz="1800" dirty="0"/>
              <a:t>Dropizi is an innovative parcel delivery service that connects individuals who need to send items with travelers already heading in the same direction. By utilizing real-world travel routes, Dropizi ensures faster, more cost-effective deliveries compared to traditional courier services.</a:t>
            </a:r>
          </a:p>
          <a:p>
            <a:pPr marL="0" lvl="0" indent="0" algn="just"/>
            <a:endParaRPr lang="en-US" sz="2000" dirty="0"/>
          </a:p>
          <a:p>
            <a:pPr marL="0" lvl="0" indent="0" algn="just"/>
            <a:r>
              <a:rPr lang="en-US" sz="2000" b="1" dirty="0"/>
              <a:t>User-Friendly Interface: </a:t>
            </a:r>
            <a:r>
              <a:rPr lang="en-US" sz="1800" dirty="0"/>
              <a:t>Our platform offers an intuitive interface for users to easily schedule pickups and manage deliveries.</a:t>
            </a:r>
          </a:p>
          <a:p>
            <a:pPr marL="0" lvl="0" indent="0" algn="just"/>
            <a:r>
              <a:rPr lang="en-US" sz="2000" b="1" dirty="0"/>
              <a:t>Real-Time Tracking: </a:t>
            </a:r>
            <a:r>
              <a:rPr lang="en-US" sz="1800" dirty="0"/>
              <a:t>Users can monitor their parcels throughout the delivery process, providing peace of mind and transparency.</a:t>
            </a:r>
          </a:p>
          <a:p>
            <a:pPr marL="0" lvl="0" indent="0" algn="just"/>
            <a:r>
              <a:rPr lang="en-US" sz="2000" b="1" dirty="0"/>
              <a:t>Tailored Pricing:</a:t>
            </a:r>
            <a:r>
              <a:rPr lang="en-US" sz="2000" dirty="0"/>
              <a:t> </a:t>
            </a:r>
            <a:r>
              <a:rPr lang="en-US" sz="1800" dirty="0"/>
              <a:t>Dropizi employs a dynamic pricing model based on distance and travel routes, making it an affordable option for users.</a:t>
            </a:r>
          </a:p>
          <a:p>
            <a:pPr marL="0" lvl="0" indent="0" algn="just"/>
            <a:r>
              <a:rPr lang="en-US" sz="2000" b="1" dirty="0"/>
              <a:t>Secure Handling: </a:t>
            </a:r>
            <a:r>
              <a:rPr lang="en-US" sz="1800" dirty="0"/>
              <a:t>The hub-based system minimizes the risk of mishandling and ensures parcels are securely transferred.</a:t>
            </a:r>
          </a:p>
          <a:p>
            <a:pPr marL="0" lvl="0" indent="0" algn="just"/>
            <a:r>
              <a:rPr lang="en-US" sz="2000" b="1" dirty="0"/>
              <a:t>24/7 Support: </a:t>
            </a:r>
            <a:r>
              <a:rPr lang="en-US" sz="1800" dirty="0"/>
              <a:t>An integrated LLM-based chatbot provides real-time assistance, answering queries and enhancing the overall user experience.</a:t>
            </a:r>
            <a:endParaRPr lang="en-US" sz="2000" dirty="0"/>
          </a:p>
        </p:txBody>
      </p:sp>
      <p:pic>
        <p:nvPicPr>
          <p:cNvPr id="296" name="Google Shape;296;p8"/>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297" name="Google Shape;297;p8"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8"/>
          <p:cNvSpPr txBox="1">
            <a:spLocks noGrp="1"/>
          </p:cNvSpPr>
          <p:nvPr>
            <p:ph type="ctrTitle"/>
          </p:nvPr>
        </p:nvSpPr>
        <p:spPr>
          <a:xfrm>
            <a:off x="1832115" y="381000"/>
            <a:ext cx="8397600" cy="84421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866" b="1" dirty="0">
                <a:latin typeface="Tahoma"/>
                <a:ea typeface="Tahoma"/>
                <a:cs typeface="Tahoma"/>
                <a:sym typeface="Tahoma"/>
              </a:rPr>
              <a:t>Product</a:t>
            </a:r>
            <a:endParaRPr sz="3866" b="1" dirty="0">
              <a:latin typeface="Tahoma"/>
              <a:ea typeface="Tahoma"/>
              <a:cs typeface="Tahoma"/>
              <a:sym typeface="Tahoma"/>
            </a:endParaRPr>
          </a:p>
        </p:txBody>
      </p:sp>
      <p:sp>
        <p:nvSpPr>
          <p:cNvPr id="298" name="Google Shape;298;p8"/>
          <p:cNvSpPr txBox="1">
            <a:spLocks noGrp="1"/>
          </p:cNvSpPr>
          <p:nvPr>
            <p:ph type="subTitle" idx="1"/>
          </p:nvPr>
        </p:nvSpPr>
        <p:spPr>
          <a:xfrm>
            <a:off x="495001" y="1219200"/>
            <a:ext cx="3499246" cy="6370934"/>
          </a:xfrm>
          <a:prstGeom prst="rect">
            <a:avLst/>
          </a:prstGeom>
          <a:noFill/>
          <a:ln>
            <a:noFill/>
          </a:ln>
        </p:spPr>
        <p:txBody>
          <a:bodyPr spcFirstLastPara="1" wrap="square" lIns="91425" tIns="45700" rIns="91425" bIns="45700" anchor="ctr" anchorCtr="0">
            <a:spAutoFit/>
          </a:bodyPr>
          <a:lstStyle/>
          <a:p>
            <a:pPr marL="0" lvl="0" indent="0" algn="just"/>
            <a:r>
              <a:rPr lang="en-US" sz="1800" b="1" dirty="0"/>
              <a:t>Development Roadmap:</a:t>
            </a:r>
          </a:p>
          <a:p>
            <a:pPr marL="0" lvl="0" indent="0" algn="just"/>
            <a:endParaRPr lang="en-US" sz="1800" dirty="0"/>
          </a:p>
          <a:p>
            <a:pPr marL="0" lvl="0" indent="0" algn="just"/>
            <a:r>
              <a:rPr lang="en-US" sz="1800" b="1" dirty="0"/>
              <a:t>Phase 1: </a:t>
            </a:r>
            <a:r>
              <a:rPr lang="en-US" sz="1600" b="1" dirty="0"/>
              <a:t>Initial Development (Months 1-3 approx)</a:t>
            </a:r>
          </a:p>
          <a:p>
            <a:pPr marL="0" lvl="0" indent="0" algn="just"/>
            <a:r>
              <a:rPr lang="en-US" sz="1800" b="1" dirty="0"/>
              <a:t>Milestone 1: </a:t>
            </a:r>
            <a:r>
              <a:rPr lang="en-US" sz="1600" b="1" dirty="0"/>
              <a:t>Research &amp; Planning  </a:t>
            </a:r>
            <a:endParaRPr lang="en-US" sz="1800" b="1" dirty="0"/>
          </a:p>
          <a:p>
            <a:pPr marL="0" lvl="0" indent="0" algn="just"/>
            <a:r>
              <a:rPr lang="en-US" sz="1600" dirty="0"/>
              <a:t>Conduct thorough market research to identify user needs and refine the service concept.</a:t>
            </a:r>
          </a:p>
          <a:p>
            <a:pPr marL="0" lvl="0" indent="0" algn="just"/>
            <a:r>
              <a:rPr lang="en-US" sz="1800" b="1" dirty="0"/>
              <a:t>Milestone 2: </a:t>
            </a:r>
            <a:r>
              <a:rPr lang="en-US" sz="1600" b="1" dirty="0"/>
              <a:t>Prototype Design  </a:t>
            </a:r>
            <a:endParaRPr lang="en-US" sz="1800" b="1" dirty="0"/>
          </a:p>
          <a:p>
            <a:pPr marL="0" lvl="0" indent="0" algn="just"/>
            <a:r>
              <a:rPr lang="en-US" sz="1600" dirty="0"/>
              <a:t>Create wireframes and prototypes of the user interface for both web and mobile applications.</a:t>
            </a:r>
          </a:p>
          <a:p>
            <a:pPr marL="0" lvl="0" indent="0" algn="just"/>
            <a:r>
              <a:rPr lang="en-US" sz="1800" b="1" dirty="0"/>
              <a:t>Milestone 3: </a:t>
            </a:r>
            <a:r>
              <a:rPr lang="en-US" sz="1600" b="1" dirty="0"/>
              <a:t>Backend Development  </a:t>
            </a:r>
            <a:endParaRPr lang="en-US" sz="1800" b="1" dirty="0"/>
          </a:p>
          <a:p>
            <a:pPr marL="0" lvl="0" indent="0" algn="just"/>
            <a:r>
              <a:rPr lang="en-US" sz="1600" dirty="0"/>
              <a:t>Develop the backend infrastructure, including database setup, API integration, and user    authentication.</a:t>
            </a:r>
          </a:p>
          <a:p>
            <a:pPr marL="0" lvl="0" indent="0" algn="just"/>
            <a:endParaRPr lang="en-US" sz="1800" dirty="0"/>
          </a:p>
          <a:p>
            <a:pPr marL="0" indent="0" algn="just"/>
            <a:r>
              <a:rPr lang="en-US" sz="1800" b="1" dirty="0"/>
              <a:t>Phase 2: </a:t>
            </a:r>
            <a:r>
              <a:rPr lang="en-US" sz="1600" b="1" dirty="0"/>
              <a:t>Beta Testing (Months 4-8 approx.)</a:t>
            </a:r>
          </a:p>
          <a:p>
            <a:pPr marL="0" lvl="0" indent="0" algn="just"/>
            <a:r>
              <a:rPr lang="en-US" sz="1800" b="1" dirty="0"/>
              <a:t>Milestone 4: </a:t>
            </a:r>
            <a:r>
              <a:rPr lang="en-US" sz="1600" b="1" dirty="0"/>
              <a:t>MVP Launch </a:t>
            </a:r>
            <a:r>
              <a:rPr lang="en-US" sz="1800" b="1" dirty="0"/>
              <a:t> </a:t>
            </a:r>
            <a:endParaRPr lang="en-US" sz="2000" b="1" dirty="0"/>
          </a:p>
          <a:p>
            <a:pPr marL="0" lvl="0" indent="0" algn="just"/>
            <a:r>
              <a:rPr lang="en-US" sz="1600" dirty="0"/>
              <a:t>Release a Minimum Viable Product (MVP) to</a:t>
            </a:r>
            <a:endParaRPr lang="en-US" sz="1800" dirty="0"/>
          </a:p>
          <a:p>
            <a:pPr marL="0" lvl="0" indent="0" algn="just"/>
            <a:endParaRPr lang="en-US" sz="1800" dirty="0"/>
          </a:p>
          <a:p>
            <a:pPr marL="0" lvl="0" indent="0" algn="just"/>
            <a:endParaRPr lang="en-US" sz="1800" dirty="0"/>
          </a:p>
          <a:p>
            <a:pPr marL="0" lvl="0" indent="0" algn="just"/>
            <a:endParaRPr lang="en-US" sz="1800" dirty="0"/>
          </a:p>
        </p:txBody>
      </p:sp>
      <p:pic>
        <p:nvPicPr>
          <p:cNvPr id="296" name="Google Shape;296;p8"/>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297" name="Google Shape;297;p8"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
        <p:nvSpPr>
          <p:cNvPr id="8" name="Google Shape;298;p8">
            <a:extLst>
              <a:ext uri="{FF2B5EF4-FFF2-40B4-BE49-F238E27FC236}">
                <a16:creationId xmlns:a16="http://schemas.microsoft.com/office/drawing/2014/main" id="{581ECC8F-9B83-43D8-942A-E01370FF94DC}"/>
              </a:ext>
            </a:extLst>
          </p:cNvPr>
          <p:cNvSpPr txBox="1">
            <a:spLocks/>
          </p:cNvSpPr>
          <p:nvPr/>
        </p:nvSpPr>
        <p:spPr>
          <a:xfrm>
            <a:off x="8045353" y="1219200"/>
            <a:ext cx="3368371" cy="5509160"/>
          </a:xfrm>
          <a:prstGeom prst="rect">
            <a:avLst/>
          </a:prstGeom>
          <a:noFill/>
          <a:ln>
            <a:noFill/>
          </a:ln>
        </p:spPr>
        <p:txBody>
          <a:bodyPr spcFirstLastPara="1" wrap="square" lIns="91425" tIns="45700" rIns="91425" bIns="45700" anchor="ctr" anchorCtr="0">
            <a:spAutoFit/>
          </a:bodyPr>
          <a:lstStyle>
            <a:lvl1pPr marL="274320" lvl="0" indent="-27432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1pPr>
            <a:lvl2pPr marL="548640" lvl="1"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2pPr>
            <a:lvl3pPr marL="822960" lvl="2"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3pPr>
            <a:lvl4pPr marL="1097280" lvl="3" indent="-228600" algn="l" rtl="0" eaLnBrk="1" latinLnBrk="0" hangingPunct="1">
              <a:lnSpc>
                <a:spcPct val="100000"/>
              </a:lnSpc>
              <a:spcBef>
                <a:spcPts val="0"/>
              </a:spcBef>
              <a:spcAft>
                <a:spcPts val="0"/>
              </a:spcAft>
              <a:buClr>
                <a:schemeClr val="dk1"/>
              </a:buClr>
              <a:buSzPts val="2400"/>
              <a:buFont typeface="Wingdings 2"/>
              <a:buNone/>
              <a:defRPr kumimoji="0" sz="2000" kern="1200">
                <a:solidFill>
                  <a:schemeClr val="tx1"/>
                </a:solidFill>
                <a:latin typeface="+mn-lt"/>
                <a:ea typeface="+mn-ea"/>
                <a:cs typeface="+mn-cs"/>
              </a:defRPr>
            </a:lvl4pPr>
            <a:lvl5pPr marL="1371600" lvl="4" indent="-228600" algn="l" rtl="0" eaLnBrk="1" latinLnBrk="0" hangingPunct="1">
              <a:lnSpc>
                <a:spcPct val="100000"/>
              </a:lnSpc>
              <a:spcBef>
                <a:spcPts val="0"/>
              </a:spcBef>
              <a:spcAft>
                <a:spcPts val="0"/>
              </a:spcAft>
              <a:buClr>
                <a:schemeClr val="dk1"/>
              </a:buClr>
              <a:buSzPts val="2400"/>
              <a:buFontTx/>
              <a:buNone/>
              <a:defRPr kumimoji="0" sz="2000" kern="1200">
                <a:solidFill>
                  <a:schemeClr val="tx1"/>
                </a:solidFill>
                <a:latin typeface="+mn-lt"/>
                <a:ea typeface="+mn-ea"/>
                <a:cs typeface="+mn-cs"/>
              </a:defRPr>
            </a:lvl5pPr>
            <a:lvl6pPr marL="1645920" lvl="5" indent="-228600" algn="l" rtl="0" eaLnBrk="1" latinLnBrk="0" hangingPunct="1">
              <a:lnSpc>
                <a:spcPct val="100000"/>
              </a:lnSpc>
              <a:spcBef>
                <a:spcPts val="0"/>
              </a:spcBef>
              <a:spcAft>
                <a:spcPts val="0"/>
              </a:spcAft>
              <a:buClr>
                <a:schemeClr val="dk1"/>
              </a:buClr>
              <a:buSzPts val="2400"/>
              <a:buNone/>
              <a:defRPr kumimoji="0" sz="1800" kern="1200" baseline="0">
                <a:solidFill>
                  <a:schemeClr val="tx1"/>
                </a:solidFill>
                <a:latin typeface="+mn-lt"/>
                <a:ea typeface="+mn-ea"/>
                <a:cs typeface="+mn-cs"/>
              </a:defRPr>
            </a:lvl6pPr>
            <a:lvl7pPr marL="1920240" lvl="6"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7pPr>
            <a:lvl8pPr marL="2194560" lvl="7"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8pPr>
            <a:lvl9pPr marL="2468880" lvl="8"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9pPr>
          </a:lstStyle>
          <a:p>
            <a:pPr marL="0" lvl="0" indent="0" algn="just"/>
            <a:r>
              <a:rPr lang="en-US" sz="1800" b="1" dirty="0"/>
              <a:t>Milestone 9:</a:t>
            </a:r>
            <a:r>
              <a:rPr lang="en-US" sz="1600" b="1" dirty="0"/>
              <a:t> Introduce New Features  </a:t>
            </a:r>
            <a:endParaRPr lang="en-US" sz="1800" b="1" dirty="0"/>
          </a:p>
          <a:p>
            <a:pPr marL="0" lvl="0" indent="0" algn="just"/>
            <a:r>
              <a:rPr lang="en-US" sz="1600" dirty="0"/>
              <a:t>Develop and integrate additional features based on user requests, such as enhanced tracking options and referral programs.</a:t>
            </a:r>
            <a:endParaRPr lang="en-US" sz="1800" dirty="0"/>
          </a:p>
          <a:p>
            <a:pPr marL="0" lvl="0" indent="0" algn="just"/>
            <a:r>
              <a:rPr lang="en-US" sz="1800" b="1" dirty="0"/>
              <a:t>Milestone 10: </a:t>
            </a:r>
            <a:r>
              <a:rPr lang="en-US" sz="1600" b="1" dirty="0"/>
              <a:t>Partnership Development  </a:t>
            </a:r>
          </a:p>
          <a:p>
            <a:pPr marL="0" lvl="0" indent="0" algn="just"/>
            <a:r>
              <a:rPr lang="en-US" sz="1600" dirty="0"/>
              <a:t>Explore partnerships with local businesses and transportation services to expand reach and improve service offerings.</a:t>
            </a:r>
          </a:p>
          <a:p>
            <a:pPr marL="0" lvl="0" indent="0" algn="just"/>
            <a:endParaRPr lang="en-US" sz="1800" dirty="0"/>
          </a:p>
          <a:p>
            <a:pPr marL="0" lvl="0" indent="0" algn="just"/>
            <a:r>
              <a:rPr lang="en-US" sz="1800" b="1" dirty="0"/>
              <a:t>Phase 5:</a:t>
            </a:r>
            <a:r>
              <a:rPr lang="en-US" sz="1600" dirty="0"/>
              <a:t> Continuous Improvement (Ongoing)</a:t>
            </a:r>
          </a:p>
          <a:p>
            <a:pPr marL="0" lvl="0" indent="0" algn="just"/>
            <a:r>
              <a:rPr lang="en-US" sz="1800" b="1" dirty="0"/>
              <a:t>Milestone 11: </a:t>
            </a:r>
            <a:r>
              <a:rPr lang="en-US" sz="1600" b="1" dirty="0"/>
              <a:t>Regular Updates  </a:t>
            </a:r>
          </a:p>
          <a:p>
            <a:pPr marL="0" lvl="0" indent="0" algn="just"/>
            <a:r>
              <a:rPr lang="en-US" sz="1600" dirty="0"/>
              <a:t>Continuously gather user feedback and implement regular updates to improve the platform’s functionality and user experience.</a:t>
            </a:r>
          </a:p>
          <a:p>
            <a:pPr marL="0" lvl="0" indent="0" algn="just"/>
            <a:endParaRPr lang="en-US" sz="1800" dirty="0"/>
          </a:p>
          <a:p>
            <a:pPr algn="just"/>
            <a:endParaRPr lang="en-US" sz="1800" dirty="0"/>
          </a:p>
          <a:p>
            <a:pPr marL="0" lvl="0" indent="0" algn="just"/>
            <a:endParaRPr lang="en-US" sz="1800" dirty="0"/>
          </a:p>
        </p:txBody>
      </p:sp>
      <p:sp>
        <p:nvSpPr>
          <p:cNvPr id="2" name="TextBox 1">
            <a:extLst>
              <a:ext uri="{FF2B5EF4-FFF2-40B4-BE49-F238E27FC236}">
                <a16:creationId xmlns:a16="http://schemas.microsoft.com/office/drawing/2014/main" id="{7C5036B6-11B5-490F-B2D7-630C9F420113}"/>
              </a:ext>
            </a:extLst>
          </p:cNvPr>
          <p:cNvSpPr txBox="1"/>
          <p:nvPr/>
        </p:nvSpPr>
        <p:spPr>
          <a:xfrm>
            <a:off x="4179128" y="1219200"/>
            <a:ext cx="3681344" cy="5693866"/>
          </a:xfrm>
          <a:prstGeom prst="rect">
            <a:avLst/>
          </a:prstGeom>
          <a:noFill/>
        </p:spPr>
        <p:txBody>
          <a:bodyPr wrap="square" rtlCol="0">
            <a:spAutoFit/>
          </a:bodyPr>
          <a:lstStyle/>
          <a:p>
            <a:pPr algn="just"/>
            <a:r>
              <a:rPr lang="en-US" sz="1600" dirty="0">
                <a:latin typeface="Perpetua (Body)"/>
              </a:rPr>
              <a:t>a select group of users for initial feedback and testing.</a:t>
            </a:r>
            <a:endParaRPr lang="en-US" sz="1600" b="1" dirty="0">
              <a:latin typeface="Perpetua (Body)"/>
            </a:endParaRPr>
          </a:p>
          <a:p>
            <a:pPr algn="just"/>
            <a:r>
              <a:rPr lang="en-US" sz="1800" b="1" dirty="0">
                <a:latin typeface="Perpetua (Body)"/>
              </a:rPr>
              <a:t>Milestone 5: </a:t>
            </a:r>
            <a:r>
              <a:rPr lang="en-US" sz="1600" b="1" dirty="0">
                <a:latin typeface="Perpetua (Body)"/>
              </a:rPr>
              <a:t>User Feedback Collection  </a:t>
            </a:r>
            <a:endParaRPr lang="en-US" sz="1800" b="1" dirty="0">
              <a:latin typeface="Perpetua (Body)"/>
            </a:endParaRPr>
          </a:p>
          <a:p>
            <a:pPr algn="just"/>
            <a:r>
              <a:rPr lang="en-US" sz="1600" dirty="0">
                <a:latin typeface="Perpetua (Body)"/>
              </a:rPr>
              <a:t>Gather feedback from beta users to identify bugs, usability issues, and feature requests.</a:t>
            </a:r>
          </a:p>
          <a:p>
            <a:pPr algn="just"/>
            <a:r>
              <a:rPr lang="en-US" sz="1800" b="1" dirty="0">
                <a:latin typeface="Perpetua (Body)"/>
              </a:rPr>
              <a:t>Milestone 6: </a:t>
            </a:r>
            <a:r>
              <a:rPr lang="en-US" sz="1600" b="1" dirty="0">
                <a:latin typeface="Perpetua (Body)"/>
              </a:rPr>
              <a:t>Iterative Improvements  </a:t>
            </a:r>
            <a:endParaRPr lang="en-US" sz="1800" b="1" dirty="0">
              <a:latin typeface="Perpetua (Body)"/>
            </a:endParaRPr>
          </a:p>
          <a:p>
            <a:pPr algn="just"/>
            <a:r>
              <a:rPr lang="en-US" sz="1600" dirty="0">
                <a:latin typeface="Perpetua (Body)"/>
              </a:rPr>
              <a:t>Implement necessary changes based on user feedback to enhance functionality and user experience.</a:t>
            </a:r>
          </a:p>
          <a:p>
            <a:pPr algn="just"/>
            <a:endParaRPr lang="en-US" sz="1600" dirty="0">
              <a:latin typeface="Perpetua (Body)"/>
            </a:endParaRPr>
          </a:p>
          <a:p>
            <a:pPr algn="just"/>
            <a:r>
              <a:rPr lang="en-US" sz="1800" b="1" dirty="0">
                <a:latin typeface="Perpetua (Body)"/>
              </a:rPr>
              <a:t>Phase 3: </a:t>
            </a:r>
            <a:r>
              <a:rPr lang="en-US" sz="1600" b="1" dirty="0">
                <a:latin typeface="Perpetua (Body)"/>
              </a:rPr>
              <a:t>Full Launch (Months 7-9)</a:t>
            </a:r>
          </a:p>
          <a:p>
            <a:pPr algn="just"/>
            <a:r>
              <a:rPr lang="en-US" sz="1800" b="1" dirty="0">
                <a:latin typeface="Perpetua (Body)"/>
              </a:rPr>
              <a:t>Milestone 7: </a:t>
            </a:r>
            <a:r>
              <a:rPr lang="en-US" sz="1600" b="1" dirty="0">
                <a:latin typeface="Perpetua (Body)"/>
              </a:rPr>
              <a:t>Official Launch</a:t>
            </a:r>
          </a:p>
          <a:p>
            <a:pPr algn="just"/>
            <a:r>
              <a:rPr lang="en-US" sz="1600" dirty="0">
                <a:latin typeface="Perpetua (Body)"/>
              </a:rPr>
              <a:t>Launch Dropizi to the public with a marketing campaign to promote the service.</a:t>
            </a:r>
          </a:p>
          <a:p>
            <a:pPr algn="just"/>
            <a:r>
              <a:rPr lang="en-US" sz="1800" b="1" dirty="0">
                <a:latin typeface="Perpetua (Body)"/>
              </a:rPr>
              <a:t>Milestone 8: </a:t>
            </a:r>
            <a:r>
              <a:rPr lang="en-US" sz="1600" b="1" dirty="0">
                <a:latin typeface="Perpetua (Body)"/>
              </a:rPr>
              <a:t>Performance Monitoring</a:t>
            </a:r>
          </a:p>
          <a:p>
            <a:pPr algn="just"/>
            <a:r>
              <a:rPr lang="en-US" sz="1600" dirty="0">
                <a:latin typeface="Perpetua (Body)"/>
              </a:rPr>
              <a:t>Monitor system performance, user engagement, and satisfaction metrics to ensure service reliability.</a:t>
            </a:r>
          </a:p>
          <a:p>
            <a:pPr algn="just"/>
            <a:endParaRPr lang="en-US" sz="1600" dirty="0">
              <a:latin typeface="Perpetua (Body)"/>
            </a:endParaRPr>
          </a:p>
          <a:p>
            <a:pPr algn="just"/>
            <a:r>
              <a:rPr lang="en-US" sz="1800" b="1" dirty="0">
                <a:latin typeface="Perpetua (Body)"/>
              </a:rPr>
              <a:t>Phase 4:</a:t>
            </a:r>
            <a:r>
              <a:rPr lang="en-US" sz="1800" dirty="0">
                <a:latin typeface="Perpetua (Body)"/>
              </a:rPr>
              <a:t> </a:t>
            </a:r>
            <a:r>
              <a:rPr lang="en-US" sz="1600" b="1" dirty="0">
                <a:latin typeface="Perpetua (Body)"/>
              </a:rPr>
              <a:t>Feature Expansion (Months 18-20)</a:t>
            </a:r>
          </a:p>
          <a:p>
            <a:pPr algn="just"/>
            <a:endParaRPr lang="en-IN" sz="1600" dirty="0">
              <a:latin typeface="Perpetua (Body)"/>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9"/>
          <p:cNvSpPr txBox="1">
            <a:spLocks noGrp="1"/>
          </p:cNvSpPr>
          <p:nvPr>
            <p:ph type="ctrTitle"/>
          </p:nvPr>
        </p:nvSpPr>
        <p:spPr>
          <a:xfrm>
            <a:off x="1832115" y="457200"/>
            <a:ext cx="8397600" cy="70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866" b="1" dirty="0">
                <a:latin typeface="Tahoma"/>
                <a:ea typeface="Tahoma"/>
                <a:cs typeface="Tahoma"/>
                <a:sym typeface="Tahoma"/>
              </a:rPr>
              <a:t>Target Market</a:t>
            </a:r>
            <a:endParaRPr dirty="0"/>
          </a:p>
        </p:txBody>
      </p:sp>
      <p:sp>
        <p:nvSpPr>
          <p:cNvPr id="305" name="Google Shape;305;p9"/>
          <p:cNvSpPr txBox="1">
            <a:spLocks noGrp="1"/>
          </p:cNvSpPr>
          <p:nvPr>
            <p:ph type="subTitle" idx="1"/>
          </p:nvPr>
        </p:nvSpPr>
        <p:spPr>
          <a:xfrm>
            <a:off x="697931" y="1219200"/>
            <a:ext cx="10744200" cy="5486400"/>
          </a:xfrm>
          <a:prstGeom prst="rect">
            <a:avLst/>
          </a:prstGeom>
          <a:noFill/>
          <a:ln>
            <a:noFill/>
          </a:ln>
        </p:spPr>
        <p:txBody>
          <a:bodyPr spcFirstLastPara="1" wrap="square" lIns="91425" tIns="91425" rIns="91425" bIns="91425" anchor="t" anchorCtr="0">
            <a:noAutofit/>
          </a:bodyPr>
          <a:lstStyle/>
          <a:p>
            <a:pPr marL="0" lvl="0" indent="0" algn="just"/>
            <a:r>
              <a:rPr lang="en-US" sz="2000" b="1" dirty="0"/>
              <a:t>Dropizi Market Entry Report:</a:t>
            </a:r>
          </a:p>
          <a:p>
            <a:pPr marL="0" lvl="0" indent="0" algn="just"/>
            <a:endParaRPr lang="en-US" sz="2000" b="1" dirty="0"/>
          </a:p>
          <a:p>
            <a:pPr marL="0" lvl="0" indent="0" algn="just"/>
            <a:r>
              <a:rPr lang="en-US" sz="2000" dirty="0"/>
              <a:t>Dropizi aims to provide a personalized parcel delivery solution tailored for individual senders. Unlike traditional courier services, Dropizi leverages a unique model by connecting people who are traveling with those who need items delivered, offering a cost-effective and flexible alternative for personal parcel shipments.</a:t>
            </a:r>
          </a:p>
          <a:p>
            <a:pPr marL="0" lvl="0" indent="0" algn="just"/>
            <a:endParaRPr lang="en-US" sz="2000" b="1" dirty="0"/>
          </a:p>
          <a:p>
            <a:pPr marL="0" indent="0" algn="just"/>
            <a:r>
              <a:rPr lang="en-US" sz="2000" b="1" dirty="0"/>
              <a:t>Market Overview of Indian Courier, Express, and Parcel (CEP) Industry:</a:t>
            </a:r>
          </a:p>
          <a:p>
            <a:pPr marL="0" indent="0" algn="just"/>
            <a:endParaRPr lang="en-US" sz="2000" b="1" dirty="0"/>
          </a:p>
          <a:p>
            <a:pPr marL="0" indent="0" algn="just"/>
            <a:r>
              <a:rPr lang="en-US" sz="2000" b="1" dirty="0"/>
              <a:t>Market Size</a:t>
            </a:r>
            <a:r>
              <a:rPr lang="en-US" sz="2000" dirty="0"/>
              <a:t>: The Indian courier and logistics sector is valued at approximately ₹71,730 crore (USD 8.58 billion) as of 2024, with a projected growth to ₹1,33,405 crore (USD 15.93 billion) by 2030.</a:t>
            </a:r>
          </a:p>
          <a:p>
            <a:pPr marL="0" indent="0" algn="just"/>
            <a:endParaRPr lang="en-US" sz="2000" dirty="0"/>
          </a:p>
          <a:p>
            <a:pPr marL="0" indent="0" algn="just"/>
            <a:r>
              <a:rPr lang="en-US" sz="2000" b="1" dirty="0"/>
              <a:t>Growth Rate</a:t>
            </a:r>
            <a:r>
              <a:rPr lang="en-US" sz="2000" dirty="0"/>
              <a:t>: The sector is growing at a compound annual growth rate (CAGR) of around 10.87%, driven largely by e-commerce but also by rising personal and SME delivery needs.</a:t>
            </a:r>
          </a:p>
          <a:p>
            <a:pPr marL="0" indent="0" algn="just"/>
            <a:endParaRPr lang="en-US" sz="2000" dirty="0"/>
          </a:p>
          <a:p>
            <a:pPr marL="0" indent="0" algn="just"/>
            <a:r>
              <a:rPr lang="en-US" sz="2000" b="1" dirty="0"/>
              <a:t>E-commerce Influence</a:t>
            </a:r>
            <a:r>
              <a:rPr lang="en-US" sz="2000" dirty="0"/>
              <a:t>: E-commerce contributes roughly 75-80% of parcel volumes due to online shopping demand. However, the remaining 20-25% market segment, valued at about ₹18,750 crore, is driven by personal shipments and individual-to-individual deliveries, where Dropizi will operate.</a:t>
            </a:r>
          </a:p>
          <a:p>
            <a:pPr marL="0" lvl="0" indent="0" algn="just"/>
            <a:endParaRPr sz="2000" b="1" dirty="0"/>
          </a:p>
        </p:txBody>
      </p:sp>
      <p:pic>
        <p:nvPicPr>
          <p:cNvPr id="304" name="Google Shape;304;p9"/>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306" name="Google Shape;306;p9"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9"/>
          <p:cNvSpPr txBox="1">
            <a:spLocks noGrp="1"/>
          </p:cNvSpPr>
          <p:nvPr>
            <p:ph type="ctrTitle"/>
          </p:nvPr>
        </p:nvSpPr>
        <p:spPr>
          <a:xfrm>
            <a:off x="1832115" y="595971"/>
            <a:ext cx="8397600" cy="70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866" b="1" dirty="0">
                <a:latin typeface="Tahoma"/>
                <a:ea typeface="Tahoma"/>
                <a:cs typeface="Tahoma"/>
                <a:sym typeface="Tahoma"/>
              </a:rPr>
              <a:t>Target Market</a:t>
            </a:r>
            <a:endParaRPr dirty="0"/>
          </a:p>
        </p:txBody>
      </p:sp>
      <p:sp>
        <p:nvSpPr>
          <p:cNvPr id="305" name="Google Shape;305;p9"/>
          <p:cNvSpPr txBox="1">
            <a:spLocks noGrp="1"/>
          </p:cNvSpPr>
          <p:nvPr>
            <p:ph type="subTitle" idx="1"/>
          </p:nvPr>
        </p:nvSpPr>
        <p:spPr>
          <a:xfrm>
            <a:off x="762000" y="1295400"/>
            <a:ext cx="5181600" cy="5486400"/>
          </a:xfrm>
          <a:prstGeom prst="rect">
            <a:avLst/>
          </a:prstGeom>
          <a:noFill/>
          <a:ln>
            <a:noFill/>
          </a:ln>
        </p:spPr>
        <p:txBody>
          <a:bodyPr spcFirstLastPara="1" wrap="square" lIns="91425" tIns="91425" rIns="91425" bIns="91425" anchor="t" anchorCtr="0">
            <a:noAutofit/>
          </a:bodyPr>
          <a:lstStyle/>
          <a:p>
            <a:pPr marL="0" indent="0" algn="just"/>
            <a:r>
              <a:rPr lang="en-US" sz="1800" b="1" dirty="0"/>
              <a:t>Individual Delivery Market Segment Analysis:</a:t>
            </a:r>
          </a:p>
          <a:p>
            <a:pPr marL="0" indent="0" algn="just"/>
            <a:r>
              <a:rPr lang="en-US" sz="1800" b="1" dirty="0"/>
              <a:t>Current Share</a:t>
            </a:r>
            <a:r>
              <a:rPr lang="en-US" sz="1800" dirty="0"/>
              <a:t>: Personal parcel shipments represent an estimated 20-25% of the total market, translating to value of around ₹18,750 crore.</a:t>
            </a:r>
          </a:p>
          <a:p>
            <a:pPr marL="0" indent="0" algn="just"/>
            <a:r>
              <a:rPr lang="en-US" sz="1800" b="1" dirty="0"/>
              <a:t>Demand Drivers</a:t>
            </a:r>
            <a:r>
              <a:rPr lang="en-US" sz="1800" dirty="0"/>
              <a:t>:</a:t>
            </a:r>
            <a:endParaRPr lang="en-US" sz="1800" b="1" dirty="0"/>
          </a:p>
          <a:p>
            <a:pPr marL="0" indent="0" algn="just"/>
            <a:r>
              <a:rPr lang="en-US" sz="1800" b="1" dirty="0"/>
              <a:t>Urbanization</a:t>
            </a:r>
            <a:r>
              <a:rPr lang="en-US" sz="1800" dirty="0"/>
              <a:t>: Rising migration and urban populations boost demand for flexible, reliable, and affordable parcel services for individuals.</a:t>
            </a:r>
          </a:p>
          <a:p>
            <a:pPr marL="0" indent="0" algn="just"/>
            <a:r>
              <a:rPr lang="en-US" sz="1800" b="1" dirty="0"/>
              <a:t>Personalization Trend</a:t>
            </a:r>
            <a:r>
              <a:rPr lang="en-US" sz="1800" dirty="0"/>
              <a:t>: Increasingly, customers prefer services that offer tailored, on-demand delivery, making a personalized delivery approach an attractive alternative.</a:t>
            </a:r>
          </a:p>
          <a:p>
            <a:pPr marL="0" indent="0" algn="just"/>
            <a:r>
              <a:rPr lang="en-US" sz="1800" b="1" dirty="0"/>
              <a:t>Traveler Economy</a:t>
            </a:r>
            <a:r>
              <a:rPr lang="en-US" sz="1800" dirty="0"/>
              <a:t>: The rise of a mobile workforce and frequent travelers creates a pool of potential delivery agents for the Dropizi model.</a:t>
            </a:r>
          </a:p>
          <a:p>
            <a:pPr marL="0" indent="0" algn="just"/>
            <a:endParaRPr lang="en-US" sz="1800" dirty="0"/>
          </a:p>
          <a:p>
            <a:pPr marL="0" indent="0" algn="just"/>
            <a:r>
              <a:rPr lang="en-US" sz="1800" b="1" dirty="0"/>
              <a:t>Key Competitors:</a:t>
            </a:r>
          </a:p>
          <a:p>
            <a:pPr marL="0" indent="0" algn="just"/>
            <a:r>
              <a:rPr lang="en-US" sz="1800" b="1" dirty="0"/>
              <a:t>Blue Dart Express</a:t>
            </a:r>
            <a:r>
              <a:rPr lang="en-US" sz="1800" dirty="0"/>
              <a:t>: Largest player in the Indian courier industry with a market cap of ₹17,470 crore. Primarily targets e-commerce and corporate clients.</a:t>
            </a:r>
            <a:endParaRPr lang="en-US" sz="1800" b="1" dirty="0"/>
          </a:p>
          <a:p>
            <a:pPr marL="0" indent="0" algn="just"/>
            <a:endParaRPr lang="en-US" sz="1800" dirty="0"/>
          </a:p>
          <a:p>
            <a:pPr marL="228600" lvl="0" indent="-228600" algn="just"/>
            <a:endParaRPr sz="1800" b="1" dirty="0"/>
          </a:p>
        </p:txBody>
      </p:sp>
      <p:pic>
        <p:nvPicPr>
          <p:cNvPr id="304" name="Google Shape;304;p9"/>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306" name="Google Shape;306;p9"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
        <p:nvSpPr>
          <p:cNvPr id="6" name="Google Shape;305;p9">
            <a:extLst>
              <a:ext uri="{FF2B5EF4-FFF2-40B4-BE49-F238E27FC236}">
                <a16:creationId xmlns:a16="http://schemas.microsoft.com/office/drawing/2014/main" id="{F370B9D3-BBD6-421B-A8D2-C5E9568374FD}"/>
              </a:ext>
            </a:extLst>
          </p:cNvPr>
          <p:cNvSpPr txBox="1">
            <a:spLocks/>
          </p:cNvSpPr>
          <p:nvPr/>
        </p:nvSpPr>
        <p:spPr>
          <a:xfrm>
            <a:off x="6252841" y="1295400"/>
            <a:ext cx="5181600" cy="5486400"/>
          </a:xfrm>
          <a:prstGeom prst="rect">
            <a:avLst/>
          </a:prstGeom>
          <a:noFill/>
          <a:ln>
            <a:noFill/>
          </a:ln>
        </p:spPr>
        <p:txBody>
          <a:bodyPr spcFirstLastPara="1" wrap="square" lIns="91425" tIns="91425" rIns="91425" bIns="91425" anchor="t" anchorCtr="0">
            <a:noAutofit/>
          </a:bodyPr>
          <a:lstStyle>
            <a:lvl1pPr marL="274320" lvl="0" indent="-27432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1pPr>
            <a:lvl2pPr marL="548640" lvl="1"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2pPr>
            <a:lvl3pPr marL="822960" lvl="2"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3pPr>
            <a:lvl4pPr marL="1097280" lvl="3" indent="-228600" algn="l" rtl="0" eaLnBrk="1" latinLnBrk="0" hangingPunct="1">
              <a:lnSpc>
                <a:spcPct val="100000"/>
              </a:lnSpc>
              <a:spcBef>
                <a:spcPts val="0"/>
              </a:spcBef>
              <a:spcAft>
                <a:spcPts val="0"/>
              </a:spcAft>
              <a:buClr>
                <a:schemeClr val="dk1"/>
              </a:buClr>
              <a:buSzPts val="2400"/>
              <a:buFont typeface="Wingdings 2"/>
              <a:buNone/>
              <a:defRPr kumimoji="0" sz="2000" kern="1200">
                <a:solidFill>
                  <a:schemeClr val="tx1"/>
                </a:solidFill>
                <a:latin typeface="+mn-lt"/>
                <a:ea typeface="+mn-ea"/>
                <a:cs typeface="+mn-cs"/>
              </a:defRPr>
            </a:lvl4pPr>
            <a:lvl5pPr marL="1371600" lvl="4" indent="-228600" algn="l" rtl="0" eaLnBrk="1" latinLnBrk="0" hangingPunct="1">
              <a:lnSpc>
                <a:spcPct val="100000"/>
              </a:lnSpc>
              <a:spcBef>
                <a:spcPts val="0"/>
              </a:spcBef>
              <a:spcAft>
                <a:spcPts val="0"/>
              </a:spcAft>
              <a:buClr>
                <a:schemeClr val="dk1"/>
              </a:buClr>
              <a:buSzPts val="2400"/>
              <a:buFontTx/>
              <a:buNone/>
              <a:defRPr kumimoji="0" sz="2000" kern="1200">
                <a:solidFill>
                  <a:schemeClr val="tx1"/>
                </a:solidFill>
                <a:latin typeface="+mn-lt"/>
                <a:ea typeface="+mn-ea"/>
                <a:cs typeface="+mn-cs"/>
              </a:defRPr>
            </a:lvl5pPr>
            <a:lvl6pPr marL="1645920" lvl="5" indent="-228600" algn="l" rtl="0" eaLnBrk="1" latinLnBrk="0" hangingPunct="1">
              <a:lnSpc>
                <a:spcPct val="100000"/>
              </a:lnSpc>
              <a:spcBef>
                <a:spcPts val="0"/>
              </a:spcBef>
              <a:spcAft>
                <a:spcPts val="0"/>
              </a:spcAft>
              <a:buClr>
                <a:schemeClr val="dk1"/>
              </a:buClr>
              <a:buSzPts val="2400"/>
              <a:buNone/>
              <a:defRPr kumimoji="0" sz="1800" kern="1200" baseline="0">
                <a:solidFill>
                  <a:schemeClr val="tx1"/>
                </a:solidFill>
                <a:latin typeface="+mn-lt"/>
                <a:ea typeface="+mn-ea"/>
                <a:cs typeface="+mn-cs"/>
              </a:defRPr>
            </a:lvl6pPr>
            <a:lvl7pPr marL="1920240" lvl="6"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7pPr>
            <a:lvl8pPr marL="2194560" lvl="7"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8pPr>
            <a:lvl9pPr marL="2468880" lvl="8"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9pPr>
          </a:lstStyle>
          <a:p>
            <a:pPr marL="0" indent="0" algn="just"/>
            <a:r>
              <a:rPr lang="en-US" sz="1800" b="1" dirty="0" err="1"/>
              <a:t>Gati</a:t>
            </a:r>
            <a:r>
              <a:rPr lang="en-US" sz="1800" b="1" dirty="0"/>
              <a:t>, DTDC, </a:t>
            </a:r>
            <a:r>
              <a:rPr lang="en-US" sz="1800" b="1" dirty="0" err="1"/>
              <a:t>Allcargo</a:t>
            </a:r>
            <a:r>
              <a:rPr lang="en-US" sz="1800" b="1" dirty="0"/>
              <a:t> Logistics</a:t>
            </a:r>
            <a:r>
              <a:rPr lang="en-US" sz="1800" dirty="0"/>
              <a:t>: Compete in both B2B and B2C spaces with services for document and parcel deliveries.</a:t>
            </a:r>
          </a:p>
          <a:p>
            <a:pPr marL="0" indent="0" algn="just"/>
            <a:r>
              <a:rPr lang="en-US" sz="1800" b="1" dirty="0"/>
              <a:t>Emerging Startups</a:t>
            </a:r>
            <a:r>
              <a:rPr lang="en-US" sz="1800" dirty="0"/>
              <a:t>: Several tech-enabled courier startups focus on last-mile delivery and urban logistics but typically serve B2B or e-commerce demands rather than personal deliveries.</a:t>
            </a:r>
          </a:p>
          <a:p>
            <a:pPr marL="0" indent="0" algn="just"/>
            <a:endParaRPr lang="en-US" sz="1800" b="1" dirty="0"/>
          </a:p>
          <a:p>
            <a:pPr marL="0" indent="0" algn="just"/>
            <a:r>
              <a:rPr lang="en-US" sz="1800" b="1" dirty="0" err="1"/>
              <a:t>Dropizi’s</a:t>
            </a:r>
            <a:r>
              <a:rPr lang="en-US" sz="1800" b="1" dirty="0"/>
              <a:t> Unique Value Proposition:</a:t>
            </a:r>
            <a:endParaRPr lang="en-US" sz="1800" dirty="0"/>
          </a:p>
          <a:p>
            <a:pPr marL="0" indent="0" algn="just"/>
            <a:r>
              <a:rPr lang="en-US" sz="1800" dirty="0" err="1"/>
              <a:t>Dropizi’s</a:t>
            </a:r>
            <a:r>
              <a:rPr lang="en-US" sz="1800" dirty="0"/>
              <a:t> entry into the market leverages:</a:t>
            </a:r>
          </a:p>
          <a:p>
            <a:pPr marL="0" indent="0" algn="just"/>
            <a:r>
              <a:rPr lang="en-US" sz="1800" b="1" dirty="0"/>
              <a:t>Personalized Service</a:t>
            </a:r>
            <a:r>
              <a:rPr lang="en-US" sz="1800" dirty="0"/>
              <a:t>: Customizable delivery options based on individual needs.</a:t>
            </a:r>
          </a:p>
          <a:p>
            <a:pPr marL="0" indent="0" algn="just"/>
            <a:r>
              <a:rPr lang="en-US" sz="1800" b="1" dirty="0"/>
              <a:t>Traveler-Based Model</a:t>
            </a:r>
            <a:r>
              <a:rPr lang="en-US" sz="1800" dirty="0"/>
              <a:t>: Offers a unique pool of delivery options, allowing for flexible pricing and routing.</a:t>
            </a:r>
          </a:p>
          <a:p>
            <a:pPr marL="0" indent="0" algn="just"/>
            <a:r>
              <a:rPr lang="en-US" sz="1800" b="1" dirty="0"/>
              <a:t>Real-Time Geolocation Matching</a:t>
            </a:r>
            <a:r>
              <a:rPr lang="en-US" sz="1800" dirty="0"/>
              <a:t>: Matching senders and travelers based on location, enabling efficient, nearby options for parcel drop-off and pick-up.</a:t>
            </a:r>
          </a:p>
          <a:p>
            <a:pPr algn="just"/>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9"/>
          <p:cNvSpPr txBox="1">
            <a:spLocks noGrp="1"/>
          </p:cNvSpPr>
          <p:nvPr>
            <p:ph type="ctrTitle"/>
          </p:nvPr>
        </p:nvSpPr>
        <p:spPr>
          <a:xfrm>
            <a:off x="1832115" y="457200"/>
            <a:ext cx="8397600" cy="70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866" b="1" dirty="0">
                <a:latin typeface="Tahoma"/>
                <a:ea typeface="Tahoma"/>
                <a:cs typeface="Tahoma"/>
                <a:sym typeface="Tahoma"/>
              </a:rPr>
              <a:t>Target Market</a:t>
            </a:r>
            <a:endParaRPr dirty="0"/>
          </a:p>
        </p:txBody>
      </p:sp>
      <p:sp>
        <p:nvSpPr>
          <p:cNvPr id="305" name="Google Shape;305;p9"/>
          <p:cNvSpPr txBox="1">
            <a:spLocks noGrp="1"/>
          </p:cNvSpPr>
          <p:nvPr>
            <p:ph type="subTitle" idx="1"/>
          </p:nvPr>
        </p:nvSpPr>
        <p:spPr>
          <a:xfrm>
            <a:off x="609600" y="1301474"/>
            <a:ext cx="5257800" cy="5486400"/>
          </a:xfrm>
          <a:prstGeom prst="rect">
            <a:avLst/>
          </a:prstGeom>
          <a:noFill/>
          <a:ln>
            <a:noFill/>
          </a:ln>
        </p:spPr>
        <p:txBody>
          <a:bodyPr spcFirstLastPara="1" wrap="square" lIns="91425" tIns="91425" rIns="91425" bIns="91425" anchor="t" anchorCtr="0">
            <a:noAutofit/>
          </a:bodyPr>
          <a:lstStyle/>
          <a:p>
            <a:pPr marL="0" indent="0" algn="just"/>
            <a:r>
              <a:rPr lang="en-US" sz="1800" b="1" dirty="0"/>
              <a:t>Future Scope and Market Opportunities:</a:t>
            </a:r>
          </a:p>
          <a:p>
            <a:pPr marL="0" indent="0" algn="just"/>
            <a:endParaRPr lang="en-US" sz="1800" b="1" dirty="0"/>
          </a:p>
          <a:p>
            <a:pPr marL="0" indent="0" algn="just"/>
            <a:r>
              <a:rPr lang="en-US" sz="1800" b="1" dirty="0"/>
              <a:t>Growth of Non-E-commerce Deliveries</a:t>
            </a:r>
            <a:r>
              <a:rPr lang="en-US" sz="1800" dirty="0"/>
              <a:t>: With the market heavily influenced by e-commerce, personalized non-e-commerce deliveries offer a less saturated space. As personal deliveries become more common due to urbanization, Dropizi can capture a rising demand among individuals.</a:t>
            </a:r>
          </a:p>
          <a:p>
            <a:pPr marL="0" indent="0" algn="just"/>
            <a:endParaRPr lang="en-US" sz="1800" dirty="0"/>
          </a:p>
          <a:p>
            <a:pPr marL="0" indent="0" algn="just"/>
            <a:r>
              <a:rPr lang="en-US" sz="1800" b="1" dirty="0"/>
              <a:t>Technology Integration</a:t>
            </a:r>
            <a:r>
              <a:rPr lang="en-US" sz="1800" dirty="0"/>
              <a:t>: Leveraging advanced geolocation, predictive routing, and secure traveler-sender matching, Dropizi can stand out as a tech-driven solution.</a:t>
            </a:r>
          </a:p>
          <a:p>
            <a:pPr marL="0" indent="0" algn="just"/>
            <a:r>
              <a:rPr lang="en-US" sz="1800" b="1" dirty="0"/>
              <a:t>Partnerships with Local Businesses</a:t>
            </a:r>
            <a:r>
              <a:rPr lang="en-US" sz="1800" dirty="0"/>
              <a:t>: Collaborating with local stores, pharmacies, and other small businesses for quick, </a:t>
            </a:r>
            <a:r>
              <a:rPr lang="en-US" sz="1800" dirty="0" err="1"/>
              <a:t>hyperlocal</a:t>
            </a:r>
            <a:r>
              <a:rPr lang="en-US" sz="1800" dirty="0"/>
              <a:t> deliveries could expand </a:t>
            </a:r>
            <a:r>
              <a:rPr lang="en-US" sz="1800" dirty="0" err="1"/>
              <a:t>Dropizi’s</a:t>
            </a:r>
            <a:r>
              <a:rPr lang="en-US" sz="1800" dirty="0"/>
              <a:t> market reach.</a:t>
            </a:r>
          </a:p>
          <a:p>
            <a:pPr marL="0" indent="0" algn="just"/>
            <a:r>
              <a:rPr lang="en-US" sz="1800" b="1" dirty="0"/>
              <a:t>Expanding the Traveler Network</a:t>
            </a:r>
            <a:r>
              <a:rPr lang="en-US" sz="1800" dirty="0"/>
              <a:t>: Building a robust network of travelers willing to make deliveries on a regular basis can create competitive pricing advantages, attracting more users.</a:t>
            </a:r>
          </a:p>
          <a:p>
            <a:pPr marL="0" indent="0" algn="just"/>
            <a:endParaRPr lang="en-US" sz="1800" dirty="0"/>
          </a:p>
        </p:txBody>
      </p:sp>
      <p:pic>
        <p:nvPicPr>
          <p:cNvPr id="304" name="Google Shape;304;p9"/>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306" name="Google Shape;306;p9"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
        <p:nvSpPr>
          <p:cNvPr id="8" name="Google Shape;305;p9">
            <a:extLst>
              <a:ext uri="{FF2B5EF4-FFF2-40B4-BE49-F238E27FC236}">
                <a16:creationId xmlns:a16="http://schemas.microsoft.com/office/drawing/2014/main" id="{EDD4C657-0B13-4E28-837B-0187AA335C71}"/>
              </a:ext>
            </a:extLst>
          </p:cNvPr>
          <p:cNvSpPr txBox="1">
            <a:spLocks/>
          </p:cNvSpPr>
          <p:nvPr/>
        </p:nvSpPr>
        <p:spPr>
          <a:xfrm>
            <a:off x="6096000" y="1301474"/>
            <a:ext cx="5334000" cy="5486400"/>
          </a:xfrm>
          <a:prstGeom prst="rect">
            <a:avLst/>
          </a:prstGeom>
          <a:noFill/>
          <a:ln>
            <a:noFill/>
          </a:ln>
        </p:spPr>
        <p:txBody>
          <a:bodyPr spcFirstLastPara="1" wrap="square" lIns="91425" tIns="91425" rIns="91425" bIns="91425" anchor="t" anchorCtr="0">
            <a:noAutofit/>
          </a:bodyPr>
          <a:lstStyle>
            <a:lvl1pPr marL="274320" lvl="0" indent="-27432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1pPr>
            <a:lvl2pPr marL="548640" lvl="1"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2pPr>
            <a:lvl3pPr marL="822960" lvl="2"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3pPr>
            <a:lvl4pPr marL="1097280" lvl="3" indent="-228600" algn="l" rtl="0" eaLnBrk="1" latinLnBrk="0" hangingPunct="1">
              <a:lnSpc>
                <a:spcPct val="100000"/>
              </a:lnSpc>
              <a:spcBef>
                <a:spcPts val="0"/>
              </a:spcBef>
              <a:spcAft>
                <a:spcPts val="0"/>
              </a:spcAft>
              <a:buClr>
                <a:schemeClr val="dk1"/>
              </a:buClr>
              <a:buSzPts val="2400"/>
              <a:buFont typeface="Wingdings 2"/>
              <a:buNone/>
              <a:defRPr kumimoji="0" sz="2000" kern="1200">
                <a:solidFill>
                  <a:schemeClr val="tx1"/>
                </a:solidFill>
                <a:latin typeface="+mn-lt"/>
                <a:ea typeface="+mn-ea"/>
                <a:cs typeface="+mn-cs"/>
              </a:defRPr>
            </a:lvl4pPr>
            <a:lvl5pPr marL="1371600" lvl="4" indent="-228600" algn="l" rtl="0" eaLnBrk="1" latinLnBrk="0" hangingPunct="1">
              <a:lnSpc>
                <a:spcPct val="100000"/>
              </a:lnSpc>
              <a:spcBef>
                <a:spcPts val="0"/>
              </a:spcBef>
              <a:spcAft>
                <a:spcPts val="0"/>
              </a:spcAft>
              <a:buClr>
                <a:schemeClr val="dk1"/>
              </a:buClr>
              <a:buSzPts val="2400"/>
              <a:buFontTx/>
              <a:buNone/>
              <a:defRPr kumimoji="0" sz="2000" kern="1200">
                <a:solidFill>
                  <a:schemeClr val="tx1"/>
                </a:solidFill>
                <a:latin typeface="+mn-lt"/>
                <a:ea typeface="+mn-ea"/>
                <a:cs typeface="+mn-cs"/>
              </a:defRPr>
            </a:lvl5pPr>
            <a:lvl6pPr marL="1645920" lvl="5" indent="-228600" algn="l" rtl="0" eaLnBrk="1" latinLnBrk="0" hangingPunct="1">
              <a:lnSpc>
                <a:spcPct val="100000"/>
              </a:lnSpc>
              <a:spcBef>
                <a:spcPts val="0"/>
              </a:spcBef>
              <a:spcAft>
                <a:spcPts val="0"/>
              </a:spcAft>
              <a:buClr>
                <a:schemeClr val="dk1"/>
              </a:buClr>
              <a:buSzPts val="2400"/>
              <a:buNone/>
              <a:defRPr kumimoji="0" sz="1800" kern="1200" baseline="0">
                <a:solidFill>
                  <a:schemeClr val="tx1"/>
                </a:solidFill>
                <a:latin typeface="+mn-lt"/>
                <a:ea typeface="+mn-ea"/>
                <a:cs typeface="+mn-cs"/>
              </a:defRPr>
            </a:lvl6pPr>
            <a:lvl7pPr marL="1920240" lvl="6"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7pPr>
            <a:lvl8pPr marL="2194560" lvl="7"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8pPr>
            <a:lvl9pPr marL="2468880" lvl="8"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9pPr>
          </a:lstStyle>
          <a:p>
            <a:pPr marL="0" indent="0" algn="just"/>
            <a:r>
              <a:rPr lang="en-US" sz="1800" b="1" dirty="0"/>
              <a:t>Financial Projections for Dropizi:</a:t>
            </a:r>
          </a:p>
          <a:p>
            <a:pPr marL="0" indent="0" algn="just"/>
            <a:r>
              <a:rPr lang="en-US" sz="1800" dirty="0"/>
              <a:t>Given the potential 25% share of the CEP market focused on non-e-commerce deliveries, </a:t>
            </a:r>
            <a:r>
              <a:rPr lang="en-US" sz="1800" dirty="0" err="1"/>
              <a:t>Dropizi’s</a:t>
            </a:r>
            <a:r>
              <a:rPr lang="en-US" sz="1800" dirty="0"/>
              <a:t> target market is valued at approximately ₹18,750 crore. Achieving even a modest market penetration rate of 1% within this segment could yield annual revenue potential of approximately ₹187.5 crore.</a:t>
            </a:r>
          </a:p>
          <a:p>
            <a:pPr marL="0" indent="0" algn="just"/>
            <a:endParaRPr lang="en-US" sz="1800" dirty="0"/>
          </a:p>
          <a:p>
            <a:pPr marL="0" indent="0" algn="just"/>
            <a:r>
              <a:rPr lang="en-US" sz="1800" b="1" dirty="0"/>
              <a:t>Long-Term Financial Goals</a:t>
            </a:r>
            <a:r>
              <a:rPr lang="en-US" sz="1800" dirty="0"/>
              <a:t>:</a:t>
            </a:r>
          </a:p>
          <a:p>
            <a:pPr marL="0" indent="0" algn="just"/>
            <a:r>
              <a:rPr lang="en-US" sz="1800" b="1" dirty="0"/>
              <a:t>3-Year Goal</a:t>
            </a:r>
            <a:r>
              <a:rPr lang="en-US" sz="1800" dirty="0"/>
              <a:t>: Capture 2-5% of the personal parcel market, aiming for ₹375-₹937.5 crore.</a:t>
            </a:r>
          </a:p>
          <a:p>
            <a:pPr marL="0" indent="0" algn="just"/>
            <a:r>
              <a:rPr lang="en-US" sz="1800" b="1" dirty="0"/>
              <a:t>5-Year Goal</a:t>
            </a:r>
            <a:r>
              <a:rPr lang="en-US" sz="1800" dirty="0"/>
              <a:t>: Expand market penetration to 7-10%, focusing on urban markets and expanding partnerships.</a:t>
            </a:r>
          </a:p>
          <a:p>
            <a:pPr marL="0" indent="0" algn="just"/>
            <a:r>
              <a:rPr lang="en-US" sz="1800" dirty="0"/>
              <a:t>Dropizi is poised to capture a promising niche in the Indian courier industry. By focusing on personalized, traveler-based parcel delivery for individuals, Dropizi can tap into an underserved segment valued at ₹18,750 crore. With strategic positioning, a focus on technology, and a commitment to customer satisfaction, Dropizi can become a preferred option for non-e-commerce parcel shipments in India.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10"/>
          <p:cNvSpPr txBox="1">
            <a:spLocks noGrp="1"/>
          </p:cNvSpPr>
          <p:nvPr>
            <p:ph type="ctrTitle"/>
          </p:nvPr>
        </p:nvSpPr>
        <p:spPr>
          <a:xfrm>
            <a:off x="1832115" y="595971"/>
            <a:ext cx="8397600" cy="70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866" b="1" dirty="0">
                <a:latin typeface="Tahoma"/>
                <a:ea typeface="Tahoma"/>
                <a:cs typeface="Tahoma"/>
                <a:sym typeface="Tahoma"/>
              </a:rPr>
              <a:t>Business Model</a:t>
            </a:r>
            <a:endParaRPr/>
          </a:p>
        </p:txBody>
      </p:sp>
      <p:sp>
        <p:nvSpPr>
          <p:cNvPr id="314" name="Google Shape;314;p10"/>
          <p:cNvSpPr txBox="1">
            <a:spLocks noGrp="1"/>
          </p:cNvSpPr>
          <p:nvPr>
            <p:ph type="subTitle" idx="1"/>
          </p:nvPr>
        </p:nvSpPr>
        <p:spPr>
          <a:xfrm>
            <a:off x="838200" y="1219200"/>
            <a:ext cx="10628671" cy="1066800"/>
          </a:xfrm>
          <a:prstGeom prst="rect">
            <a:avLst/>
          </a:prstGeom>
          <a:noFill/>
          <a:ln>
            <a:noFill/>
          </a:ln>
        </p:spPr>
        <p:txBody>
          <a:bodyPr spcFirstLastPara="1" wrap="square" lIns="91425" tIns="45700" rIns="91425" bIns="45700" anchor="ctr" anchorCtr="0">
            <a:normAutofit/>
          </a:bodyPr>
          <a:lstStyle/>
          <a:p>
            <a:r>
              <a:rPr lang="en-US" dirty="0"/>
              <a:t>1. Pricing Model for Parcel Delivery</a:t>
            </a:r>
            <a:endParaRPr/>
          </a:p>
        </p:txBody>
      </p:sp>
      <p:pic>
        <p:nvPicPr>
          <p:cNvPr id="312" name="Google Shape;312;p10"/>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313" name="Google Shape;313;p10"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graphicFrame>
        <p:nvGraphicFramePr>
          <p:cNvPr id="12" name="Table 11"/>
          <p:cNvGraphicFramePr>
            <a:graphicFrameLocks noGrp="1"/>
          </p:cNvGraphicFramePr>
          <p:nvPr/>
        </p:nvGraphicFramePr>
        <p:xfrm>
          <a:off x="914400" y="2285998"/>
          <a:ext cx="10515600" cy="3962403"/>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gridCol w="1752600">
                  <a:extLst>
                    <a:ext uri="{9D8B030D-6E8A-4147-A177-3AD203B41FA5}">
                      <a16:colId xmlns:a16="http://schemas.microsoft.com/office/drawing/2014/main" val="20004"/>
                    </a:ext>
                  </a:extLst>
                </a:gridCol>
                <a:gridCol w="1752600">
                  <a:extLst>
                    <a:ext uri="{9D8B030D-6E8A-4147-A177-3AD203B41FA5}">
                      <a16:colId xmlns:a16="http://schemas.microsoft.com/office/drawing/2014/main" val="20005"/>
                    </a:ext>
                  </a:extLst>
                </a:gridCol>
              </a:tblGrid>
              <a:tr h="1025799">
                <a:tc>
                  <a:txBody>
                    <a:bodyPr/>
                    <a:lstStyle/>
                    <a:p>
                      <a:r>
                        <a:rPr lang="en-US" dirty="0"/>
                        <a:t>Weight (kg)</a:t>
                      </a:r>
                    </a:p>
                  </a:txBody>
                  <a:tcPr/>
                </a:tc>
                <a:tc>
                  <a:txBody>
                    <a:bodyPr/>
                    <a:lstStyle/>
                    <a:p>
                      <a:r>
                        <a:rPr lang="en-US" b="1" dirty="0"/>
                        <a:t>Initial 50 km (₹1.5/km)</a:t>
                      </a:r>
                      <a:endParaRPr lang="en-US" dirty="0"/>
                    </a:p>
                  </a:txBody>
                  <a:tcPr anchor="ctr"/>
                </a:tc>
                <a:tc>
                  <a:txBody>
                    <a:bodyPr/>
                    <a:lstStyle/>
                    <a:p>
                      <a:r>
                        <a:rPr lang="en-US" b="1" dirty="0"/>
                        <a:t>Additional Distance (₹1/km)</a:t>
                      </a:r>
                      <a:endParaRPr lang="en-US" dirty="0"/>
                    </a:p>
                  </a:txBody>
                  <a:tcPr anchor="ctr"/>
                </a:tc>
                <a:tc>
                  <a:txBody>
                    <a:bodyPr/>
                    <a:lstStyle/>
                    <a:p>
                      <a:r>
                        <a:rPr lang="en-US" b="1" dirty="0"/>
                        <a:t>Weight Multiplier</a:t>
                      </a:r>
                      <a:endParaRPr lang="en-US" dirty="0"/>
                    </a:p>
                  </a:txBody>
                  <a:tcPr anchor="ctr"/>
                </a:tc>
                <a:tc>
                  <a:txBody>
                    <a:bodyPr/>
                    <a:lstStyle/>
                    <a:p>
                      <a:r>
                        <a:rPr lang="en-US" b="1" dirty="0"/>
                        <a:t>Total Distance Cost (80 km)</a:t>
                      </a:r>
                      <a:endParaRPr lang="en-US" dirty="0"/>
                    </a:p>
                  </a:txBody>
                  <a:tcPr anchor="ctr"/>
                </a:tc>
                <a:tc>
                  <a:txBody>
                    <a:bodyPr/>
                    <a:lstStyle/>
                    <a:p>
                      <a:r>
                        <a:rPr lang="en-US" b="1" dirty="0"/>
                        <a:t>Final Price</a:t>
                      </a:r>
                      <a:endParaRPr lang="en-US" dirty="0"/>
                    </a:p>
                  </a:txBody>
                  <a:tcPr anchor="ctr"/>
                </a:tc>
                <a:extLst>
                  <a:ext uri="{0D108BD9-81ED-4DB2-BD59-A6C34878D82A}">
                    <a16:rowId xmlns:a16="http://schemas.microsoft.com/office/drawing/2014/main" val="10000"/>
                  </a:ext>
                </a:extLst>
              </a:tr>
              <a:tr h="734151">
                <a:tc>
                  <a:txBody>
                    <a:bodyPr/>
                    <a:lstStyle/>
                    <a:p>
                      <a:r>
                        <a:rPr lang="en-US" dirty="0"/>
                        <a:t>1 kg</a:t>
                      </a:r>
                    </a:p>
                  </a:txBody>
                  <a:tcPr anchor="ctr"/>
                </a:tc>
                <a:tc>
                  <a:txBody>
                    <a:bodyPr/>
                    <a:lstStyle/>
                    <a:p>
                      <a:r>
                        <a:rPr lang="en-US"/>
                        <a:t>₹75</a:t>
                      </a:r>
                    </a:p>
                  </a:txBody>
                  <a:tcPr anchor="ctr"/>
                </a:tc>
                <a:tc>
                  <a:txBody>
                    <a:bodyPr/>
                    <a:lstStyle/>
                    <a:p>
                      <a:r>
                        <a:rPr lang="en-US"/>
                        <a:t>₹30</a:t>
                      </a:r>
                    </a:p>
                  </a:txBody>
                  <a:tcPr anchor="ctr"/>
                </a:tc>
                <a:tc>
                  <a:txBody>
                    <a:bodyPr/>
                    <a:lstStyle/>
                    <a:p>
                      <a:r>
                        <a:rPr lang="en-US"/>
                        <a:t>1.0</a:t>
                      </a:r>
                    </a:p>
                  </a:txBody>
                  <a:tcPr anchor="ctr"/>
                </a:tc>
                <a:tc>
                  <a:txBody>
                    <a:bodyPr/>
                    <a:lstStyle/>
                    <a:p>
                      <a:r>
                        <a:rPr lang="en-US"/>
                        <a:t>₹105</a:t>
                      </a:r>
                    </a:p>
                  </a:txBody>
                  <a:tcPr anchor="ctr"/>
                </a:tc>
                <a:tc>
                  <a:txBody>
                    <a:bodyPr/>
                    <a:lstStyle/>
                    <a:p>
                      <a:r>
                        <a:rPr lang="en-US" dirty="0"/>
                        <a:t>₹105</a:t>
                      </a:r>
                    </a:p>
                  </a:txBody>
                  <a:tcPr anchor="ctr"/>
                </a:tc>
                <a:extLst>
                  <a:ext uri="{0D108BD9-81ED-4DB2-BD59-A6C34878D82A}">
                    <a16:rowId xmlns:a16="http://schemas.microsoft.com/office/drawing/2014/main" val="10001"/>
                  </a:ext>
                </a:extLst>
              </a:tr>
              <a:tr h="734151">
                <a:tc>
                  <a:txBody>
                    <a:bodyPr/>
                    <a:lstStyle/>
                    <a:p>
                      <a:r>
                        <a:rPr lang="en-US" dirty="0"/>
                        <a:t>3 kg</a:t>
                      </a:r>
                    </a:p>
                  </a:txBody>
                  <a:tcPr anchor="ctr"/>
                </a:tc>
                <a:tc>
                  <a:txBody>
                    <a:bodyPr/>
                    <a:lstStyle/>
                    <a:p>
                      <a:r>
                        <a:rPr lang="en-US"/>
                        <a:t>₹75</a:t>
                      </a:r>
                    </a:p>
                  </a:txBody>
                  <a:tcPr anchor="ctr"/>
                </a:tc>
                <a:tc>
                  <a:txBody>
                    <a:bodyPr/>
                    <a:lstStyle/>
                    <a:p>
                      <a:r>
                        <a:rPr lang="en-US"/>
                        <a:t>₹30</a:t>
                      </a:r>
                    </a:p>
                  </a:txBody>
                  <a:tcPr anchor="ctr"/>
                </a:tc>
                <a:tc>
                  <a:txBody>
                    <a:bodyPr/>
                    <a:lstStyle/>
                    <a:p>
                      <a:r>
                        <a:rPr lang="en-US"/>
                        <a:t>1.3</a:t>
                      </a:r>
                    </a:p>
                  </a:txBody>
                  <a:tcPr anchor="ctr"/>
                </a:tc>
                <a:tc>
                  <a:txBody>
                    <a:bodyPr/>
                    <a:lstStyle/>
                    <a:p>
                      <a:r>
                        <a:rPr lang="en-US"/>
                        <a:t>₹105</a:t>
                      </a:r>
                    </a:p>
                  </a:txBody>
                  <a:tcPr anchor="ctr"/>
                </a:tc>
                <a:tc>
                  <a:txBody>
                    <a:bodyPr/>
                    <a:lstStyle/>
                    <a:p>
                      <a:r>
                        <a:rPr lang="en-US" dirty="0"/>
                        <a:t>₹136.50</a:t>
                      </a:r>
                    </a:p>
                  </a:txBody>
                  <a:tcPr anchor="ctr"/>
                </a:tc>
                <a:extLst>
                  <a:ext uri="{0D108BD9-81ED-4DB2-BD59-A6C34878D82A}">
                    <a16:rowId xmlns:a16="http://schemas.microsoft.com/office/drawing/2014/main" val="10002"/>
                  </a:ext>
                </a:extLst>
              </a:tr>
              <a:tr h="734151">
                <a:tc>
                  <a:txBody>
                    <a:bodyPr/>
                    <a:lstStyle/>
                    <a:p>
                      <a:r>
                        <a:rPr lang="en-US" dirty="0"/>
                        <a:t>5 kg</a:t>
                      </a:r>
                    </a:p>
                  </a:txBody>
                  <a:tcPr anchor="ctr"/>
                </a:tc>
                <a:tc>
                  <a:txBody>
                    <a:bodyPr/>
                    <a:lstStyle/>
                    <a:p>
                      <a:r>
                        <a:rPr lang="en-US"/>
                        <a:t>₹75</a:t>
                      </a:r>
                    </a:p>
                  </a:txBody>
                  <a:tcPr anchor="ctr"/>
                </a:tc>
                <a:tc>
                  <a:txBody>
                    <a:bodyPr/>
                    <a:lstStyle/>
                    <a:p>
                      <a:r>
                        <a:rPr lang="en-US"/>
                        <a:t>₹30</a:t>
                      </a:r>
                    </a:p>
                  </a:txBody>
                  <a:tcPr anchor="ctr"/>
                </a:tc>
                <a:tc>
                  <a:txBody>
                    <a:bodyPr/>
                    <a:lstStyle/>
                    <a:p>
                      <a:r>
                        <a:rPr lang="en-US"/>
                        <a:t>1.5</a:t>
                      </a:r>
                    </a:p>
                  </a:txBody>
                  <a:tcPr anchor="ctr"/>
                </a:tc>
                <a:tc>
                  <a:txBody>
                    <a:bodyPr/>
                    <a:lstStyle/>
                    <a:p>
                      <a:r>
                        <a:rPr lang="en-US"/>
                        <a:t>₹105</a:t>
                      </a:r>
                    </a:p>
                  </a:txBody>
                  <a:tcPr anchor="ctr"/>
                </a:tc>
                <a:tc>
                  <a:txBody>
                    <a:bodyPr/>
                    <a:lstStyle/>
                    <a:p>
                      <a:r>
                        <a:rPr lang="en-US" dirty="0"/>
                        <a:t>₹157.50</a:t>
                      </a:r>
                    </a:p>
                  </a:txBody>
                  <a:tcPr anchor="ctr"/>
                </a:tc>
                <a:extLst>
                  <a:ext uri="{0D108BD9-81ED-4DB2-BD59-A6C34878D82A}">
                    <a16:rowId xmlns:a16="http://schemas.microsoft.com/office/drawing/2014/main" val="10003"/>
                  </a:ext>
                </a:extLst>
              </a:tr>
              <a:tr h="734151">
                <a:tc>
                  <a:txBody>
                    <a:bodyPr/>
                    <a:lstStyle/>
                    <a:p>
                      <a:r>
                        <a:rPr lang="en-US" dirty="0"/>
                        <a:t>10 kg</a:t>
                      </a:r>
                    </a:p>
                  </a:txBody>
                  <a:tcPr anchor="ctr"/>
                </a:tc>
                <a:tc>
                  <a:txBody>
                    <a:bodyPr/>
                    <a:lstStyle/>
                    <a:p>
                      <a:r>
                        <a:rPr lang="en-US"/>
                        <a:t>₹75</a:t>
                      </a:r>
                    </a:p>
                  </a:txBody>
                  <a:tcPr anchor="ctr"/>
                </a:tc>
                <a:tc>
                  <a:txBody>
                    <a:bodyPr/>
                    <a:lstStyle/>
                    <a:p>
                      <a:r>
                        <a:rPr lang="en-US"/>
                        <a:t>₹30</a:t>
                      </a:r>
                    </a:p>
                  </a:txBody>
                  <a:tcPr anchor="ctr"/>
                </a:tc>
                <a:tc>
                  <a:txBody>
                    <a:bodyPr/>
                    <a:lstStyle/>
                    <a:p>
                      <a:r>
                        <a:rPr lang="en-US"/>
                        <a:t>2.0</a:t>
                      </a:r>
                    </a:p>
                  </a:txBody>
                  <a:tcPr anchor="ctr"/>
                </a:tc>
                <a:tc>
                  <a:txBody>
                    <a:bodyPr/>
                    <a:lstStyle/>
                    <a:p>
                      <a:r>
                        <a:rPr lang="en-US"/>
                        <a:t>₹105</a:t>
                      </a:r>
                    </a:p>
                  </a:txBody>
                  <a:tcPr anchor="ctr"/>
                </a:tc>
                <a:tc>
                  <a:txBody>
                    <a:bodyPr/>
                    <a:lstStyle/>
                    <a:p>
                      <a:r>
                        <a:rPr lang="en-US" dirty="0"/>
                        <a:t>₹210</a:t>
                      </a:r>
                    </a:p>
                  </a:txBody>
                  <a:tcPr anchor="ct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10"/>
          <p:cNvSpPr txBox="1">
            <a:spLocks noGrp="1"/>
          </p:cNvSpPr>
          <p:nvPr>
            <p:ph type="ctrTitle"/>
          </p:nvPr>
        </p:nvSpPr>
        <p:spPr>
          <a:xfrm>
            <a:off x="1832115" y="595971"/>
            <a:ext cx="8397600" cy="70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866" b="1" dirty="0">
                <a:latin typeface="Tahoma"/>
                <a:ea typeface="Tahoma"/>
                <a:cs typeface="Tahoma"/>
                <a:sym typeface="Tahoma"/>
              </a:rPr>
              <a:t>Business Model</a:t>
            </a:r>
            <a:endParaRPr/>
          </a:p>
        </p:txBody>
      </p:sp>
      <p:sp>
        <p:nvSpPr>
          <p:cNvPr id="314" name="Google Shape;314;p10"/>
          <p:cNvSpPr txBox="1">
            <a:spLocks noGrp="1"/>
          </p:cNvSpPr>
          <p:nvPr>
            <p:ph type="subTitle" idx="1"/>
          </p:nvPr>
        </p:nvSpPr>
        <p:spPr>
          <a:xfrm>
            <a:off x="838200" y="1219200"/>
            <a:ext cx="10628671" cy="5334000"/>
          </a:xfrm>
          <a:prstGeom prst="rect">
            <a:avLst/>
          </a:prstGeom>
          <a:noFill/>
          <a:ln>
            <a:noFill/>
          </a:ln>
        </p:spPr>
        <p:txBody>
          <a:bodyPr spcFirstLastPara="1" wrap="square" lIns="91425" tIns="45700" rIns="91425" bIns="45700" anchor="ctr" anchorCtr="0">
            <a:normAutofit/>
          </a:bodyPr>
          <a:lstStyle/>
          <a:p>
            <a:endParaRPr lang="en-US" dirty="0"/>
          </a:p>
          <a:p>
            <a:endParaRPr lang="en-US" dirty="0"/>
          </a:p>
          <a:p>
            <a:endParaRPr lang="en-US" dirty="0"/>
          </a:p>
          <a:p>
            <a:endParaRPr lang="en-US" dirty="0"/>
          </a:p>
          <a:p>
            <a:r>
              <a:rPr lang="en-US" dirty="0"/>
              <a:t>2. Example Calculation for 3 kg Parcel over 80 km</a:t>
            </a:r>
          </a:p>
          <a:p>
            <a:endParaRPr lang="en-US" dirty="0"/>
          </a:p>
          <a:p>
            <a:r>
              <a:rPr lang="en-US" b="1" dirty="0"/>
              <a:t>Base Distance Cost</a:t>
            </a:r>
            <a:r>
              <a:rPr lang="en-US" dirty="0"/>
              <a:t> for the first 50 km:</a:t>
            </a:r>
          </a:p>
          <a:p>
            <a:r>
              <a:rPr lang="en-US" dirty="0"/>
              <a:t>			 			1.5per km×50km=₹75</a:t>
            </a:r>
          </a:p>
          <a:p>
            <a:r>
              <a:rPr lang="en-US" b="1" dirty="0"/>
              <a:t>Additional Distance Cost</a:t>
            </a:r>
            <a:r>
              <a:rPr lang="en-US" dirty="0"/>
              <a:t> for the remaining 30 km:</a:t>
            </a:r>
          </a:p>
          <a:p>
            <a:r>
              <a:rPr lang="en-US" dirty="0"/>
              <a:t>						 1per km×30km=₹30</a:t>
            </a:r>
          </a:p>
          <a:p>
            <a:r>
              <a:rPr lang="en-US" b="1" dirty="0"/>
              <a:t>Total Distance Cost</a:t>
            </a:r>
            <a:r>
              <a:rPr lang="en-US" dirty="0"/>
              <a:t>:</a:t>
            </a:r>
          </a:p>
          <a:p>
            <a:r>
              <a:rPr lang="en-US" dirty="0"/>
              <a:t>						 ₹75+₹30=₹105</a:t>
            </a:r>
          </a:p>
          <a:p>
            <a:r>
              <a:rPr lang="en-US" b="1" dirty="0"/>
              <a:t>Weight Multiplier for 3 kg</a:t>
            </a:r>
            <a:r>
              <a:rPr lang="en-US" dirty="0"/>
              <a:t>:</a:t>
            </a:r>
          </a:p>
          <a:p>
            <a:r>
              <a:rPr lang="en-US" dirty="0"/>
              <a:t>						 Total Cost=₹105×1.3=₹136.50</a:t>
            </a:r>
          </a:p>
          <a:p>
            <a:endParaRPr lang="en-US" dirty="0"/>
          </a:p>
          <a:p>
            <a:endParaRPr lang="en-US" dirty="0"/>
          </a:p>
          <a:p>
            <a:endParaRPr lang="en-US" dirty="0"/>
          </a:p>
          <a:p>
            <a:endParaRPr lang="en-US" dirty="0"/>
          </a:p>
          <a:p>
            <a:endParaRPr lang="en-US" dirty="0"/>
          </a:p>
        </p:txBody>
      </p:sp>
      <p:pic>
        <p:nvPicPr>
          <p:cNvPr id="312" name="Google Shape;312;p10"/>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313" name="Google Shape;313;p10"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10"/>
          <p:cNvSpPr txBox="1">
            <a:spLocks noGrp="1"/>
          </p:cNvSpPr>
          <p:nvPr>
            <p:ph type="ctrTitle"/>
          </p:nvPr>
        </p:nvSpPr>
        <p:spPr>
          <a:xfrm>
            <a:off x="1832115" y="595971"/>
            <a:ext cx="8397600" cy="70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866" b="1" dirty="0">
                <a:latin typeface="Tahoma"/>
                <a:ea typeface="Tahoma"/>
                <a:cs typeface="Tahoma"/>
                <a:sym typeface="Tahoma"/>
              </a:rPr>
              <a:t>Business Model</a:t>
            </a:r>
            <a:endParaRPr/>
          </a:p>
        </p:txBody>
      </p:sp>
      <p:pic>
        <p:nvPicPr>
          <p:cNvPr id="312" name="Google Shape;312;p10"/>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313" name="Google Shape;313;p10"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graphicFrame>
        <p:nvGraphicFramePr>
          <p:cNvPr id="6" name="Table 5"/>
          <p:cNvGraphicFramePr>
            <a:graphicFrameLocks noGrp="1"/>
          </p:cNvGraphicFramePr>
          <p:nvPr/>
        </p:nvGraphicFramePr>
        <p:xfrm>
          <a:off x="1752600" y="2286000"/>
          <a:ext cx="8127999" cy="14833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370840">
                <a:tc>
                  <a:txBody>
                    <a:bodyPr/>
                    <a:lstStyle/>
                    <a:p>
                      <a:r>
                        <a:rPr lang="en-US" b="1" dirty="0"/>
                        <a:t>Revenue Stream</a:t>
                      </a:r>
                      <a:endParaRPr lang="en-US" dirty="0"/>
                    </a:p>
                  </a:txBody>
                  <a:tcPr anchor="ctr"/>
                </a:tc>
                <a:tc>
                  <a:txBody>
                    <a:bodyPr/>
                    <a:lstStyle/>
                    <a:p>
                      <a:r>
                        <a:rPr lang="en-US" b="1"/>
                        <a:t>Percentage</a:t>
                      </a:r>
                      <a:endParaRPr lang="en-US"/>
                    </a:p>
                  </a:txBody>
                  <a:tcPr anchor="ctr"/>
                </a:tc>
                <a:tc>
                  <a:txBody>
                    <a:bodyPr/>
                    <a:lstStyle/>
                    <a:p>
                      <a:r>
                        <a:rPr lang="en-US" b="1" dirty="0"/>
                        <a:t>Amount (₹)</a:t>
                      </a:r>
                      <a:endParaRPr lang="en-US" dirty="0"/>
                    </a:p>
                  </a:txBody>
                  <a:tcPr anchor="ctr"/>
                </a:tc>
                <a:extLst>
                  <a:ext uri="{0D108BD9-81ED-4DB2-BD59-A6C34878D82A}">
                    <a16:rowId xmlns:a16="http://schemas.microsoft.com/office/drawing/2014/main" val="10000"/>
                  </a:ext>
                </a:extLst>
              </a:tr>
              <a:tr h="370840">
                <a:tc>
                  <a:txBody>
                    <a:bodyPr/>
                    <a:lstStyle/>
                    <a:p>
                      <a:r>
                        <a:rPr lang="en-US" b="1" dirty="0"/>
                        <a:t>Dropizi Platform</a:t>
                      </a:r>
                      <a:endParaRPr lang="en-US" dirty="0"/>
                    </a:p>
                  </a:txBody>
                  <a:tcPr anchor="ctr"/>
                </a:tc>
                <a:tc>
                  <a:txBody>
                    <a:bodyPr/>
                    <a:lstStyle/>
                    <a:p>
                      <a:r>
                        <a:rPr lang="en-US"/>
                        <a:t>15%</a:t>
                      </a:r>
                    </a:p>
                  </a:txBody>
                  <a:tcPr anchor="ctr"/>
                </a:tc>
                <a:tc>
                  <a:txBody>
                    <a:bodyPr/>
                    <a:lstStyle/>
                    <a:p>
                      <a:r>
                        <a:rPr lang="en-US" dirty="0"/>
                        <a:t>₹20.48</a:t>
                      </a:r>
                    </a:p>
                  </a:txBody>
                  <a:tcPr anchor="ctr"/>
                </a:tc>
                <a:extLst>
                  <a:ext uri="{0D108BD9-81ED-4DB2-BD59-A6C34878D82A}">
                    <a16:rowId xmlns:a16="http://schemas.microsoft.com/office/drawing/2014/main" val="10001"/>
                  </a:ext>
                </a:extLst>
              </a:tr>
              <a:tr h="370840">
                <a:tc>
                  <a:txBody>
                    <a:bodyPr/>
                    <a:lstStyle/>
                    <a:p>
                      <a:r>
                        <a:rPr lang="en-US" b="1" dirty="0"/>
                        <a:t>Hub Owner</a:t>
                      </a:r>
                      <a:endParaRPr lang="en-US" dirty="0"/>
                    </a:p>
                  </a:txBody>
                  <a:tcPr anchor="ctr"/>
                </a:tc>
                <a:tc>
                  <a:txBody>
                    <a:bodyPr/>
                    <a:lstStyle/>
                    <a:p>
                      <a:r>
                        <a:rPr lang="en-US"/>
                        <a:t>10%</a:t>
                      </a:r>
                    </a:p>
                  </a:txBody>
                  <a:tcPr anchor="ctr"/>
                </a:tc>
                <a:tc>
                  <a:txBody>
                    <a:bodyPr/>
                    <a:lstStyle/>
                    <a:p>
                      <a:r>
                        <a:rPr lang="en-US" dirty="0"/>
                        <a:t>₹13.65</a:t>
                      </a:r>
                    </a:p>
                  </a:txBody>
                  <a:tcPr anchor="ctr"/>
                </a:tc>
                <a:extLst>
                  <a:ext uri="{0D108BD9-81ED-4DB2-BD59-A6C34878D82A}">
                    <a16:rowId xmlns:a16="http://schemas.microsoft.com/office/drawing/2014/main" val="10002"/>
                  </a:ext>
                </a:extLst>
              </a:tr>
              <a:tr h="370840">
                <a:tc>
                  <a:txBody>
                    <a:bodyPr/>
                    <a:lstStyle/>
                    <a:p>
                      <a:r>
                        <a:rPr lang="en-US" b="1" dirty="0"/>
                        <a:t>Traveler</a:t>
                      </a:r>
                      <a:endParaRPr lang="en-US" dirty="0"/>
                    </a:p>
                  </a:txBody>
                  <a:tcPr anchor="ctr"/>
                </a:tc>
                <a:tc>
                  <a:txBody>
                    <a:bodyPr/>
                    <a:lstStyle/>
                    <a:p>
                      <a:r>
                        <a:rPr lang="en-US" dirty="0"/>
                        <a:t>Remaining 75%</a:t>
                      </a:r>
                    </a:p>
                  </a:txBody>
                  <a:tcPr/>
                </a:tc>
                <a:tc>
                  <a:txBody>
                    <a:bodyPr/>
                    <a:lstStyle/>
                    <a:p>
                      <a:r>
                        <a:rPr lang="en-US" dirty="0"/>
                        <a:t>₹102.38</a:t>
                      </a:r>
                    </a:p>
                  </a:txBody>
                  <a:tcPr/>
                </a:tc>
                <a:extLst>
                  <a:ext uri="{0D108BD9-81ED-4DB2-BD59-A6C34878D82A}">
                    <a16:rowId xmlns:a16="http://schemas.microsoft.com/office/drawing/2014/main" val="10003"/>
                  </a:ext>
                </a:extLst>
              </a:tr>
            </a:tbl>
          </a:graphicData>
        </a:graphic>
      </p:graphicFrame>
      <p:sp>
        <p:nvSpPr>
          <p:cNvPr id="8" name="Rectangle 7"/>
          <p:cNvSpPr/>
          <p:nvPr/>
        </p:nvSpPr>
        <p:spPr>
          <a:xfrm>
            <a:off x="838200" y="4038600"/>
            <a:ext cx="10287000" cy="2616101"/>
          </a:xfrm>
          <a:prstGeom prst="rect">
            <a:avLst/>
          </a:prstGeom>
        </p:spPr>
        <p:txBody>
          <a:bodyPr wrap="square">
            <a:spAutoFit/>
          </a:bodyPr>
          <a:lstStyle/>
          <a:p>
            <a:r>
              <a:rPr lang="en-US" sz="2000" b="1" dirty="0"/>
              <a:t>4. Key Takeaways</a:t>
            </a:r>
          </a:p>
          <a:p>
            <a:endParaRPr lang="en-US" sz="1800" b="1" dirty="0"/>
          </a:p>
          <a:p>
            <a:r>
              <a:rPr lang="en-US" sz="1800" b="1" dirty="0"/>
              <a:t>Dropizi Platform Commission</a:t>
            </a:r>
            <a:r>
              <a:rPr lang="en-US" sz="1800" dirty="0"/>
              <a:t>: A small percentage (15%) from each delivery transaction ensures platform sustainability.</a:t>
            </a:r>
          </a:p>
          <a:p>
            <a:endParaRPr lang="en-US" sz="1800" b="1" dirty="0"/>
          </a:p>
          <a:p>
            <a:r>
              <a:rPr lang="en-US" sz="1800" b="1" dirty="0"/>
              <a:t>Hub Owner's Share</a:t>
            </a:r>
            <a:r>
              <a:rPr lang="en-US" sz="1800" dirty="0"/>
              <a:t>: 10% of the total price goes to the hub owner for facilitating delivery hubs.</a:t>
            </a:r>
          </a:p>
          <a:p>
            <a:endParaRPr lang="en-US" sz="1800" b="1" dirty="0"/>
          </a:p>
          <a:p>
            <a:r>
              <a:rPr lang="en-US" sz="1800" b="1" dirty="0"/>
              <a:t>Traveler’s Revenue</a:t>
            </a:r>
            <a:r>
              <a:rPr lang="en-US" sz="1800" dirty="0"/>
              <a:t>: The traveler, who delivers the parcel, receives 75% of the total cost, making it a profitable and attractive model for frequent travelers.</a:t>
            </a:r>
          </a:p>
        </p:txBody>
      </p:sp>
      <p:sp>
        <p:nvSpPr>
          <p:cNvPr id="10" name="Rectangle 9"/>
          <p:cNvSpPr/>
          <p:nvPr/>
        </p:nvSpPr>
        <p:spPr>
          <a:xfrm>
            <a:off x="990600" y="1524000"/>
            <a:ext cx="3858749" cy="400110"/>
          </a:xfrm>
          <a:prstGeom prst="rect">
            <a:avLst/>
          </a:prstGeom>
        </p:spPr>
        <p:txBody>
          <a:bodyPr wrap="none">
            <a:spAutoFit/>
          </a:bodyPr>
          <a:lstStyle/>
          <a:p>
            <a:r>
              <a:rPr lang="en-US" sz="2000" b="1" dirty="0"/>
              <a:t>3. Revenue Distribution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11"/>
          <p:cNvSpPr txBox="1">
            <a:spLocks noGrp="1"/>
          </p:cNvSpPr>
          <p:nvPr>
            <p:ph type="ctrTitle"/>
          </p:nvPr>
        </p:nvSpPr>
        <p:spPr>
          <a:xfrm>
            <a:off x="1832115" y="595971"/>
            <a:ext cx="8397600" cy="70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850" b="1" dirty="0">
                <a:latin typeface="Tahoma"/>
                <a:ea typeface="Tahoma"/>
                <a:cs typeface="Tahoma"/>
                <a:sym typeface="Tahoma"/>
              </a:rPr>
              <a:t>Work Plan and Go-to-Market</a:t>
            </a:r>
            <a:endParaRPr sz="3866" b="1">
              <a:latin typeface="Tahoma"/>
              <a:ea typeface="Tahoma"/>
              <a:cs typeface="Tahoma"/>
              <a:sym typeface="Tahoma"/>
            </a:endParaRPr>
          </a:p>
        </p:txBody>
      </p:sp>
      <p:sp>
        <p:nvSpPr>
          <p:cNvPr id="321" name="Google Shape;321;p11"/>
          <p:cNvSpPr txBox="1">
            <a:spLocks noGrp="1"/>
          </p:cNvSpPr>
          <p:nvPr>
            <p:ph type="subTitle" idx="1"/>
          </p:nvPr>
        </p:nvSpPr>
        <p:spPr>
          <a:xfrm>
            <a:off x="304800" y="1447800"/>
            <a:ext cx="3733800" cy="4959814"/>
          </a:xfrm>
          <a:prstGeom prst="rect">
            <a:avLst/>
          </a:prstGeom>
          <a:noFill/>
          <a:ln>
            <a:noFill/>
          </a:ln>
        </p:spPr>
        <p:txBody>
          <a:bodyPr spcFirstLastPara="1" wrap="square" lIns="91425" tIns="91425" rIns="91425" bIns="91425" anchor="t" anchorCtr="0">
            <a:noAutofit/>
          </a:bodyPr>
          <a:lstStyle/>
          <a:p>
            <a:pPr marL="0" indent="0" algn="just"/>
            <a:r>
              <a:rPr lang="en-US" sz="2000" b="1" dirty="0"/>
              <a:t>Dropizi Detailed Work Plan and Timeline:</a:t>
            </a:r>
          </a:p>
          <a:p>
            <a:pPr marL="0" indent="0" algn="just"/>
            <a:r>
              <a:rPr lang="en-US" sz="2000" b="1" dirty="0"/>
              <a:t>Phase 1: </a:t>
            </a:r>
            <a:r>
              <a:rPr lang="en-US" sz="2000" dirty="0"/>
              <a:t>Problem Identification &amp; Market Research.</a:t>
            </a:r>
          </a:p>
          <a:p>
            <a:pPr marL="0" indent="0" algn="just"/>
            <a:r>
              <a:rPr lang="en-US" sz="2000" b="1" dirty="0"/>
              <a:t>Timeline:</a:t>
            </a:r>
            <a:r>
              <a:rPr lang="en-US" sz="2000" dirty="0"/>
              <a:t> Month 1</a:t>
            </a:r>
          </a:p>
          <a:p>
            <a:pPr marL="0" indent="0" algn="just"/>
            <a:r>
              <a:rPr lang="en-US" sz="2000" b="1" dirty="0"/>
              <a:t>Tasks:</a:t>
            </a:r>
          </a:p>
          <a:p>
            <a:pPr marL="342900" indent="-342900" algn="just">
              <a:buFont typeface="Arial" panose="020B0604020202020204" pitchFamily="34" charset="0"/>
              <a:buChar char="•"/>
            </a:pPr>
            <a:r>
              <a:rPr lang="en-US" sz="2000" dirty="0"/>
              <a:t>Conduct in-depth market research to validate demand.</a:t>
            </a:r>
          </a:p>
          <a:p>
            <a:pPr marL="342900" indent="-342900" algn="just">
              <a:buFont typeface="Arial" panose="020B0604020202020204" pitchFamily="34" charset="0"/>
              <a:buChar char="•"/>
            </a:pPr>
            <a:r>
              <a:rPr lang="en-US" sz="2000" dirty="0"/>
              <a:t>Identify pain points in traditional courier services (cost, time delays, security).</a:t>
            </a:r>
          </a:p>
          <a:p>
            <a:pPr marL="342900" indent="-342900" algn="just">
              <a:buFont typeface="Arial" panose="020B0604020202020204" pitchFamily="34" charset="0"/>
              <a:buChar char="•"/>
            </a:pPr>
            <a:r>
              <a:rPr lang="en-US" sz="2000" dirty="0"/>
              <a:t>Define customer segments, including individual users, SMEs, and travelers.</a:t>
            </a:r>
          </a:p>
          <a:p>
            <a:pPr marL="0" indent="0" algn="just"/>
            <a:r>
              <a:rPr lang="en-US" sz="2000" b="1" dirty="0"/>
              <a:t>Deliverables:</a:t>
            </a:r>
            <a:r>
              <a:rPr lang="en-US" sz="2000" dirty="0"/>
              <a:t> Problem validation report, customer segment profiles.</a:t>
            </a:r>
          </a:p>
          <a:p>
            <a:pPr algn="just"/>
            <a:endParaRPr lang="en-US" sz="2000" dirty="0"/>
          </a:p>
          <a:p>
            <a:pPr marL="228600" lvl="0" indent="-228600" algn="just" rtl="0">
              <a:lnSpc>
                <a:spcPct val="100000"/>
              </a:lnSpc>
              <a:spcBef>
                <a:spcPts val="0"/>
              </a:spcBef>
              <a:spcAft>
                <a:spcPts val="0"/>
              </a:spcAft>
              <a:buSzPts val="1800"/>
              <a:buNone/>
            </a:pPr>
            <a:endParaRPr sz="1800" dirty="0"/>
          </a:p>
        </p:txBody>
      </p:sp>
      <p:pic>
        <p:nvPicPr>
          <p:cNvPr id="320" name="Google Shape;320;p11"/>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322" name="Google Shape;322;p11"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
        <p:nvSpPr>
          <p:cNvPr id="6" name="Google Shape;321;p11">
            <a:extLst>
              <a:ext uri="{FF2B5EF4-FFF2-40B4-BE49-F238E27FC236}">
                <a16:creationId xmlns:a16="http://schemas.microsoft.com/office/drawing/2014/main" id="{60B42D71-2522-4130-8B76-301CFC49BCFC}"/>
              </a:ext>
            </a:extLst>
          </p:cNvPr>
          <p:cNvSpPr txBox="1">
            <a:spLocks/>
          </p:cNvSpPr>
          <p:nvPr/>
        </p:nvSpPr>
        <p:spPr>
          <a:xfrm>
            <a:off x="4267200" y="1447800"/>
            <a:ext cx="3733800" cy="4959814"/>
          </a:xfrm>
          <a:prstGeom prst="rect">
            <a:avLst/>
          </a:prstGeom>
          <a:noFill/>
          <a:ln>
            <a:noFill/>
          </a:ln>
        </p:spPr>
        <p:txBody>
          <a:bodyPr spcFirstLastPara="1" wrap="square" lIns="91425" tIns="91425" rIns="91425" bIns="91425" anchor="t" anchorCtr="0">
            <a:noAutofit/>
          </a:bodyPr>
          <a:lstStyle>
            <a:lvl1pPr marL="274320" lvl="0" indent="-27432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1pPr>
            <a:lvl2pPr marL="548640" lvl="1"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2pPr>
            <a:lvl3pPr marL="822960" lvl="2"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3pPr>
            <a:lvl4pPr marL="1097280" lvl="3" indent="-228600" algn="l" rtl="0" eaLnBrk="1" latinLnBrk="0" hangingPunct="1">
              <a:lnSpc>
                <a:spcPct val="100000"/>
              </a:lnSpc>
              <a:spcBef>
                <a:spcPts val="0"/>
              </a:spcBef>
              <a:spcAft>
                <a:spcPts val="0"/>
              </a:spcAft>
              <a:buClr>
                <a:schemeClr val="dk1"/>
              </a:buClr>
              <a:buSzPts val="2400"/>
              <a:buFont typeface="Wingdings 2"/>
              <a:buNone/>
              <a:defRPr kumimoji="0" sz="2000" kern="1200">
                <a:solidFill>
                  <a:schemeClr val="tx1"/>
                </a:solidFill>
                <a:latin typeface="+mn-lt"/>
                <a:ea typeface="+mn-ea"/>
                <a:cs typeface="+mn-cs"/>
              </a:defRPr>
            </a:lvl4pPr>
            <a:lvl5pPr marL="1371600" lvl="4" indent="-228600" algn="l" rtl="0" eaLnBrk="1" latinLnBrk="0" hangingPunct="1">
              <a:lnSpc>
                <a:spcPct val="100000"/>
              </a:lnSpc>
              <a:spcBef>
                <a:spcPts val="0"/>
              </a:spcBef>
              <a:spcAft>
                <a:spcPts val="0"/>
              </a:spcAft>
              <a:buClr>
                <a:schemeClr val="dk1"/>
              </a:buClr>
              <a:buSzPts val="2400"/>
              <a:buFontTx/>
              <a:buNone/>
              <a:defRPr kumimoji="0" sz="2000" kern="1200">
                <a:solidFill>
                  <a:schemeClr val="tx1"/>
                </a:solidFill>
                <a:latin typeface="+mn-lt"/>
                <a:ea typeface="+mn-ea"/>
                <a:cs typeface="+mn-cs"/>
              </a:defRPr>
            </a:lvl5pPr>
            <a:lvl6pPr marL="1645920" lvl="5" indent="-228600" algn="l" rtl="0" eaLnBrk="1" latinLnBrk="0" hangingPunct="1">
              <a:lnSpc>
                <a:spcPct val="100000"/>
              </a:lnSpc>
              <a:spcBef>
                <a:spcPts val="0"/>
              </a:spcBef>
              <a:spcAft>
                <a:spcPts val="0"/>
              </a:spcAft>
              <a:buClr>
                <a:schemeClr val="dk1"/>
              </a:buClr>
              <a:buSzPts val="2400"/>
              <a:buNone/>
              <a:defRPr kumimoji="0" sz="1800" kern="1200" baseline="0">
                <a:solidFill>
                  <a:schemeClr val="tx1"/>
                </a:solidFill>
                <a:latin typeface="+mn-lt"/>
                <a:ea typeface="+mn-ea"/>
                <a:cs typeface="+mn-cs"/>
              </a:defRPr>
            </a:lvl6pPr>
            <a:lvl7pPr marL="1920240" lvl="6"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7pPr>
            <a:lvl8pPr marL="2194560" lvl="7"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8pPr>
            <a:lvl9pPr marL="2468880" lvl="8"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9pPr>
          </a:lstStyle>
          <a:p>
            <a:pPr marL="0" indent="0" algn="just"/>
            <a:r>
              <a:rPr lang="en-US" sz="2000" b="1" dirty="0"/>
              <a:t>Phase 2: </a:t>
            </a:r>
            <a:r>
              <a:rPr lang="en-US" sz="2000" dirty="0"/>
              <a:t>Product Concept &amp; Prototype Development.</a:t>
            </a:r>
          </a:p>
          <a:p>
            <a:pPr algn="just"/>
            <a:r>
              <a:rPr lang="en-US" sz="2000" b="1" dirty="0"/>
              <a:t>Timeline:</a:t>
            </a:r>
            <a:r>
              <a:rPr lang="en-US" sz="2000" dirty="0"/>
              <a:t> Months 2-3</a:t>
            </a:r>
          </a:p>
          <a:p>
            <a:pPr algn="just"/>
            <a:r>
              <a:rPr lang="en-US" sz="2000" b="1" dirty="0"/>
              <a:t>Tasks:</a:t>
            </a:r>
          </a:p>
          <a:p>
            <a:pPr marL="342900" indent="-342900" algn="just">
              <a:buFont typeface="Arial" panose="020B0604020202020204" pitchFamily="34" charset="0"/>
              <a:buChar char="•"/>
            </a:pPr>
            <a:r>
              <a:rPr lang="en-US" sz="2000" dirty="0"/>
              <a:t>Design initial wireframes and UI/UX for Dropizi platform.</a:t>
            </a:r>
          </a:p>
          <a:p>
            <a:pPr marL="342900" indent="-342900" algn="just">
              <a:buFont typeface="Arial" panose="020B0604020202020204" pitchFamily="34" charset="0"/>
              <a:buChar char="•"/>
            </a:pPr>
            <a:r>
              <a:rPr lang="en-US" sz="2000" dirty="0"/>
              <a:t>Develop a basic prototype for app-based parcel delivery and tracking.</a:t>
            </a:r>
          </a:p>
          <a:p>
            <a:pPr marL="342900" indent="-342900" algn="just">
              <a:buFont typeface="Arial" panose="020B0604020202020204" pitchFamily="34" charset="0"/>
              <a:buChar char="•"/>
            </a:pPr>
            <a:r>
              <a:rPr lang="en-US" sz="2000" dirty="0"/>
              <a:t>Integrate key features: traveler matching, real-time tracking, and cost estimator.</a:t>
            </a:r>
          </a:p>
          <a:p>
            <a:pPr marL="0" indent="0" algn="just"/>
            <a:r>
              <a:rPr lang="en-US" sz="2000" b="1" dirty="0"/>
              <a:t>Deliverables:</a:t>
            </a:r>
            <a:r>
              <a:rPr lang="en-US" sz="2000" dirty="0"/>
              <a:t> Initial prototype, user journey maps, and feedback from initial testing.</a:t>
            </a:r>
          </a:p>
        </p:txBody>
      </p:sp>
      <p:sp>
        <p:nvSpPr>
          <p:cNvPr id="7" name="Google Shape;321;p11">
            <a:extLst>
              <a:ext uri="{FF2B5EF4-FFF2-40B4-BE49-F238E27FC236}">
                <a16:creationId xmlns:a16="http://schemas.microsoft.com/office/drawing/2014/main" id="{546A134F-2B3B-4F4C-B383-A1A6D2E6CB43}"/>
              </a:ext>
            </a:extLst>
          </p:cNvPr>
          <p:cNvSpPr txBox="1">
            <a:spLocks/>
          </p:cNvSpPr>
          <p:nvPr/>
        </p:nvSpPr>
        <p:spPr>
          <a:xfrm>
            <a:off x="8153400" y="1445736"/>
            <a:ext cx="3733800" cy="4959814"/>
          </a:xfrm>
          <a:prstGeom prst="rect">
            <a:avLst/>
          </a:prstGeom>
          <a:noFill/>
          <a:ln>
            <a:noFill/>
          </a:ln>
        </p:spPr>
        <p:txBody>
          <a:bodyPr spcFirstLastPara="1" wrap="square" lIns="91425" tIns="91425" rIns="91425" bIns="91425" anchor="t" anchorCtr="0">
            <a:noAutofit/>
          </a:bodyPr>
          <a:lstStyle>
            <a:lvl1pPr marL="274320" lvl="0" indent="-27432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1pPr>
            <a:lvl2pPr marL="548640" lvl="1"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2pPr>
            <a:lvl3pPr marL="822960" lvl="2"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3pPr>
            <a:lvl4pPr marL="1097280" lvl="3" indent="-228600" algn="l" rtl="0" eaLnBrk="1" latinLnBrk="0" hangingPunct="1">
              <a:lnSpc>
                <a:spcPct val="100000"/>
              </a:lnSpc>
              <a:spcBef>
                <a:spcPts val="0"/>
              </a:spcBef>
              <a:spcAft>
                <a:spcPts val="0"/>
              </a:spcAft>
              <a:buClr>
                <a:schemeClr val="dk1"/>
              </a:buClr>
              <a:buSzPts val="2400"/>
              <a:buFont typeface="Wingdings 2"/>
              <a:buNone/>
              <a:defRPr kumimoji="0" sz="2000" kern="1200">
                <a:solidFill>
                  <a:schemeClr val="tx1"/>
                </a:solidFill>
                <a:latin typeface="+mn-lt"/>
                <a:ea typeface="+mn-ea"/>
                <a:cs typeface="+mn-cs"/>
              </a:defRPr>
            </a:lvl4pPr>
            <a:lvl5pPr marL="1371600" lvl="4" indent="-228600" algn="l" rtl="0" eaLnBrk="1" latinLnBrk="0" hangingPunct="1">
              <a:lnSpc>
                <a:spcPct val="100000"/>
              </a:lnSpc>
              <a:spcBef>
                <a:spcPts val="0"/>
              </a:spcBef>
              <a:spcAft>
                <a:spcPts val="0"/>
              </a:spcAft>
              <a:buClr>
                <a:schemeClr val="dk1"/>
              </a:buClr>
              <a:buSzPts val="2400"/>
              <a:buFontTx/>
              <a:buNone/>
              <a:defRPr kumimoji="0" sz="2000" kern="1200">
                <a:solidFill>
                  <a:schemeClr val="tx1"/>
                </a:solidFill>
                <a:latin typeface="+mn-lt"/>
                <a:ea typeface="+mn-ea"/>
                <a:cs typeface="+mn-cs"/>
              </a:defRPr>
            </a:lvl5pPr>
            <a:lvl6pPr marL="1645920" lvl="5" indent="-228600" algn="l" rtl="0" eaLnBrk="1" latinLnBrk="0" hangingPunct="1">
              <a:lnSpc>
                <a:spcPct val="100000"/>
              </a:lnSpc>
              <a:spcBef>
                <a:spcPts val="0"/>
              </a:spcBef>
              <a:spcAft>
                <a:spcPts val="0"/>
              </a:spcAft>
              <a:buClr>
                <a:schemeClr val="dk1"/>
              </a:buClr>
              <a:buSzPts val="2400"/>
              <a:buNone/>
              <a:defRPr kumimoji="0" sz="1800" kern="1200" baseline="0">
                <a:solidFill>
                  <a:schemeClr val="tx1"/>
                </a:solidFill>
                <a:latin typeface="+mn-lt"/>
                <a:ea typeface="+mn-ea"/>
                <a:cs typeface="+mn-cs"/>
              </a:defRPr>
            </a:lvl6pPr>
            <a:lvl7pPr marL="1920240" lvl="6"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7pPr>
            <a:lvl8pPr marL="2194560" lvl="7"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8pPr>
            <a:lvl9pPr marL="2468880" lvl="8"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9pPr>
          </a:lstStyle>
          <a:p>
            <a:pPr algn="just"/>
            <a:r>
              <a:rPr lang="en-US" sz="2000" b="1" dirty="0"/>
              <a:t>Phase 3: </a:t>
            </a:r>
            <a:r>
              <a:rPr lang="en-US" sz="2000" dirty="0"/>
              <a:t>Testing &amp; Iteration.</a:t>
            </a:r>
          </a:p>
          <a:p>
            <a:pPr algn="just"/>
            <a:r>
              <a:rPr lang="en-US" sz="2000" b="1" dirty="0"/>
              <a:t>Timeline:</a:t>
            </a:r>
            <a:r>
              <a:rPr lang="en-US" sz="2000" dirty="0"/>
              <a:t> Months 4-5</a:t>
            </a:r>
          </a:p>
          <a:p>
            <a:pPr algn="just"/>
            <a:r>
              <a:rPr lang="en-US" sz="2000" b="1" dirty="0"/>
              <a:t>Tasks:</a:t>
            </a:r>
          </a:p>
          <a:p>
            <a:pPr marL="342900" indent="-342900" algn="just">
              <a:buFont typeface="Arial" panose="020B0604020202020204" pitchFamily="34" charset="0"/>
              <a:buChar char="•"/>
            </a:pPr>
            <a:r>
              <a:rPr lang="en-US" sz="2000" dirty="0"/>
              <a:t>Conduct user testing with a focus group to gather feedback.</a:t>
            </a:r>
          </a:p>
          <a:p>
            <a:pPr marL="342900" indent="-342900" algn="just">
              <a:buFont typeface="Arial" panose="020B0604020202020204" pitchFamily="34" charset="0"/>
              <a:buChar char="•"/>
            </a:pPr>
            <a:r>
              <a:rPr lang="en-US" sz="2000" dirty="0"/>
              <a:t>Make iterative improvements to the platform based on user experience and technical issues.</a:t>
            </a:r>
          </a:p>
          <a:p>
            <a:pPr marL="342900" indent="-342900" algn="just">
              <a:buFont typeface="Arial" panose="020B0604020202020204" pitchFamily="34" charset="0"/>
              <a:buChar char="•"/>
            </a:pPr>
            <a:r>
              <a:rPr lang="en-US" sz="2000" dirty="0"/>
              <a:t>Implement security features for parcel tracking and payment gateway.</a:t>
            </a:r>
          </a:p>
          <a:p>
            <a:pPr marL="0" indent="0" algn="just"/>
            <a:r>
              <a:rPr lang="en-US" sz="2000" b="1" dirty="0"/>
              <a:t>Deliverables:</a:t>
            </a:r>
            <a:r>
              <a:rPr lang="en-US" sz="2000" dirty="0"/>
              <a:t> Updated prototype, test report, security assessments.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11"/>
          <p:cNvSpPr txBox="1">
            <a:spLocks noGrp="1"/>
          </p:cNvSpPr>
          <p:nvPr>
            <p:ph type="ctrTitle"/>
          </p:nvPr>
        </p:nvSpPr>
        <p:spPr>
          <a:xfrm>
            <a:off x="1832115" y="595971"/>
            <a:ext cx="8397600" cy="70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850" b="1" dirty="0">
                <a:latin typeface="Tahoma"/>
                <a:ea typeface="Tahoma"/>
                <a:cs typeface="Tahoma"/>
                <a:sym typeface="Tahoma"/>
              </a:rPr>
              <a:t>Work Plan and Go-to-Market</a:t>
            </a:r>
            <a:endParaRPr sz="3866" b="1">
              <a:latin typeface="Tahoma"/>
              <a:ea typeface="Tahoma"/>
              <a:cs typeface="Tahoma"/>
              <a:sym typeface="Tahoma"/>
            </a:endParaRPr>
          </a:p>
        </p:txBody>
      </p:sp>
      <p:pic>
        <p:nvPicPr>
          <p:cNvPr id="320" name="Google Shape;320;p11"/>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322" name="Google Shape;322;p11"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
        <p:nvSpPr>
          <p:cNvPr id="6" name="Google Shape;321;p11">
            <a:extLst>
              <a:ext uri="{FF2B5EF4-FFF2-40B4-BE49-F238E27FC236}">
                <a16:creationId xmlns:a16="http://schemas.microsoft.com/office/drawing/2014/main" id="{DC6FC955-3841-41EC-AA52-726062E1B91F}"/>
              </a:ext>
            </a:extLst>
          </p:cNvPr>
          <p:cNvSpPr txBox="1">
            <a:spLocks/>
          </p:cNvSpPr>
          <p:nvPr/>
        </p:nvSpPr>
        <p:spPr>
          <a:xfrm>
            <a:off x="457200" y="1676400"/>
            <a:ext cx="3657600" cy="4323058"/>
          </a:xfrm>
          <a:prstGeom prst="rect">
            <a:avLst/>
          </a:prstGeom>
          <a:noFill/>
          <a:ln>
            <a:noFill/>
          </a:ln>
        </p:spPr>
        <p:txBody>
          <a:bodyPr spcFirstLastPara="1" wrap="square" lIns="91425" tIns="91425" rIns="91425" bIns="91425" anchor="t" anchorCtr="0">
            <a:noAutofit/>
          </a:bodyPr>
          <a:lstStyle>
            <a:lvl1pPr marL="274320" lvl="0" indent="-27432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1pPr>
            <a:lvl2pPr marL="548640" lvl="1"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2pPr>
            <a:lvl3pPr marL="822960" lvl="2"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3pPr>
            <a:lvl4pPr marL="1097280" lvl="3" indent="-228600" algn="l" rtl="0" eaLnBrk="1" latinLnBrk="0" hangingPunct="1">
              <a:lnSpc>
                <a:spcPct val="100000"/>
              </a:lnSpc>
              <a:spcBef>
                <a:spcPts val="0"/>
              </a:spcBef>
              <a:spcAft>
                <a:spcPts val="0"/>
              </a:spcAft>
              <a:buClr>
                <a:schemeClr val="dk1"/>
              </a:buClr>
              <a:buSzPts val="2400"/>
              <a:buFont typeface="Wingdings 2"/>
              <a:buNone/>
              <a:defRPr kumimoji="0" sz="2000" kern="1200">
                <a:solidFill>
                  <a:schemeClr val="tx1"/>
                </a:solidFill>
                <a:latin typeface="+mn-lt"/>
                <a:ea typeface="+mn-ea"/>
                <a:cs typeface="+mn-cs"/>
              </a:defRPr>
            </a:lvl4pPr>
            <a:lvl5pPr marL="1371600" lvl="4" indent="-228600" algn="l" rtl="0" eaLnBrk="1" latinLnBrk="0" hangingPunct="1">
              <a:lnSpc>
                <a:spcPct val="100000"/>
              </a:lnSpc>
              <a:spcBef>
                <a:spcPts val="0"/>
              </a:spcBef>
              <a:spcAft>
                <a:spcPts val="0"/>
              </a:spcAft>
              <a:buClr>
                <a:schemeClr val="dk1"/>
              </a:buClr>
              <a:buSzPts val="2400"/>
              <a:buFontTx/>
              <a:buNone/>
              <a:defRPr kumimoji="0" sz="2000" kern="1200">
                <a:solidFill>
                  <a:schemeClr val="tx1"/>
                </a:solidFill>
                <a:latin typeface="+mn-lt"/>
                <a:ea typeface="+mn-ea"/>
                <a:cs typeface="+mn-cs"/>
              </a:defRPr>
            </a:lvl5pPr>
            <a:lvl6pPr marL="1645920" lvl="5" indent="-228600" algn="l" rtl="0" eaLnBrk="1" latinLnBrk="0" hangingPunct="1">
              <a:lnSpc>
                <a:spcPct val="100000"/>
              </a:lnSpc>
              <a:spcBef>
                <a:spcPts val="0"/>
              </a:spcBef>
              <a:spcAft>
                <a:spcPts val="0"/>
              </a:spcAft>
              <a:buClr>
                <a:schemeClr val="dk1"/>
              </a:buClr>
              <a:buSzPts val="2400"/>
              <a:buNone/>
              <a:defRPr kumimoji="0" sz="1800" kern="1200" baseline="0">
                <a:solidFill>
                  <a:schemeClr val="tx1"/>
                </a:solidFill>
                <a:latin typeface="+mn-lt"/>
                <a:ea typeface="+mn-ea"/>
                <a:cs typeface="+mn-cs"/>
              </a:defRPr>
            </a:lvl6pPr>
            <a:lvl7pPr marL="1920240" lvl="6"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7pPr>
            <a:lvl8pPr marL="2194560" lvl="7"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8pPr>
            <a:lvl9pPr marL="2468880" lvl="8"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9pPr>
          </a:lstStyle>
          <a:p>
            <a:pPr marL="0" indent="0" algn="just"/>
            <a:r>
              <a:rPr lang="en-US" sz="2000" b="1" dirty="0"/>
              <a:t>Phase 4: </a:t>
            </a:r>
            <a:r>
              <a:rPr lang="en-US" sz="2000" dirty="0"/>
              <a:t>Pilot Launch.</a:t>
            </a:r>
          </a:p>
          <a:p>
            <a:pPr marL="0" indent="0" algn="just"/>
            <a:r>
              <a:rPr lang="en-US" sz="2000" b="1" dirty="0"/>
              <a:t>Timeline:</a:t>
            </a:r>
            <a:r>
              <a:rPr lang="en-US" sz="2000" dirty="0"/>
              <a:t> Month 6</a:t>
            </a:r>
          </a:p>
          <a:p>
            <a:pPr marL="0" indent="0" algn="just"/>
            <a:r>
              <a:rPr lang="en-US" sz="2000" b="1" dirty="0"/>
              <a:t>Tasks:</a:t>
            </a:r>
          </a:p>
          <a:p>
            <a:pPr marL="342900" indent="-342900" algn="just">
              <a:buFont typeface="Arial" panose="020B0604020202020204" pitchFamily="34" charset="0"/>
              <a:buChar char="•"/>
            </a:pPr>
            <a:r>
              <a:rPr lang="en-US" sz="2000" dirty="0"/>
              <a:t>Launch pilot program in select cities to test platform with real users.</a:t>
            </a:r>
          </a:p>
          <a:p>
            <a:pPr marL="342900" indent="-342900" algn="just">
              <a:buFont typeface="Arial" panose="020B0604020202020204" pitchFamily="34" charset="0"/>
              <a:buChar char="•"/>
            </a:pPr>
            <a:r>
              <a:rPr lang="en-US" sz="2000" dirty="0"/>
              <a:t>Partner with local hubs and onboard initial travelers.</a:t>
            </a:r>
          </a:p>
          <a:p>
            <a:pPr marL="342900" indent="-342900" algn="just">
              <a:buFont typeface="Arial" panose="020B0604020202020204" pitchFamily="34" charset="0"/>
              <a:buChar char="•"/>
            </a:pPr>
            <a:r>
              <a:rPr lang="en-US" sz="2000" dirty="0"/>
              <a:t>Track key metrics like delivery times, user satisfaction, and cost savings.</a:t>
            </a:r>
          </a:p>
          <a:p>
            <a:pPr marL="0" indent="0" algn="just"/>
            <a:r>
              <a:rPr lang="en-US" sz="2000" b="1" dirty="0"/>
              <a:t>Deliverables:</a:t>
            </a:r>
            <a:r>
              <a:rPr lang="en-US" sz="2000" dirty="0"/>
              <a:t> Pilot program performance report, customer feedback analysis.</a:t>
            </a:r>
          </a:p>
          <a:p>
            <a:pPr marL="228600" lvl="0" indent="-228600" algn="just" rtl="0">
              <a:lnSpc>
                <a:spcPct val="100000"/>
              </a:lnSpc>
              <a:spcBef>
                <a:spcPts val="0"/>
              </a:spcBef>
              <a:spcAft>
                <a:spcPts val="0"/>
              </a:spcAft>
              <a:buSzPts val="1800"/>
              <a:buNone/>
            </a:pPr>
            <a:endParaRPr lang="en-US" sz="1800" dirty="0"/>
          </a:p>
        </p:txBody>
      </p:sp>
      <p:sp>
        <p:nvSpPr>
          <p:cNvPr id="11" name="Google Shape;321;p11">
            <a:extLst>
              <a:ext uri="{FF2B5EF4-FFF2-40B4-BE49-F238E27FC236}">
                <a16:creationId xmlns:a16="http://schemas.microsoft.com/office/drawing/2014/main" id="{A4D1AF69-DEFD-4E88-9FC8-5CB119A8AE7F}"/>
              </a:ext>
            </a:extLst>
          </p:cNvPr>
          <p:cNvSpPr txBox="1">
            <a:spLocks/>
          </p:cNvSpPr>
          <p:nvPr/>
        </p:nvSpPr>
        <p:spPr>
          <a:xfrm>
            <a:off x="4267200" y="1634231"/>
            <a:ext cx="3657600" cy="4323058"/>
          </a:xfrm>
          <a:prstGeom prst="rect">
            <a:avLst/>
          </a:prstGeom>
          <a:noFill/>
          <a:ln>
            <a:noFill/>
          </a:ln>
        </p:spPr>
        <p:txBody>
          <a:bodyPr spcFirstLastPara="1" wrap="square" lIns="91425" tIns="91425" rIns="91425" bIns="91425" anchor="t" anchorCtr="0">
            <a:noAutofit/>
          </a:bodyPr>
          <a:lstStyle>
            <a:lvl1pPr marL="274320" lvl="0" indent="-27432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1pPr>
            <a:lvl2pPr marL="548640" lvl="1"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2pPr>
            <a:lvl3pPr marL="822960" lvl="2"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3pPr>
            <a:lvl4pPr marL="1097280" lvl="3" indent="-228600" algn="l" rtl="0" eaLnBrk="1" latinLnBrk="0" hangingPunct="1">
              <a:lnSpc>
                <a:spcPct val="100000"/>
              </a:lnSpc>
              <a:spcBef>
                <a:spcPts val="0"/>
              </a:spcBef>
              <a:spcAft>
                <a:spcPts val="0"/>
              </a:spcAft>
              <a:buClr>
                <a:schemeClr val="dk1"/>
              </a:buClr>
              <a:buSzPts val="2400"/>
              <a:buFont typeface="Wingdings 2"/>
              <a:buNone/>
              <a:defRPr kumimoji="0" sz="2000" kern="1200">
                <a:solidFill>
                  <a:schemeClr val="tx1"/>
                </a:solidFill>
                <a:latin typeface="+mn-lt"/>
                <a:ea typeface="+mn-ea"/>
                <a:cs typeface="+mn-cs"/>
              </a:defRPr>
            </a:lvl4pPr>
            <a:lvl5pPr marL="1371600" lvl="4" indent="-228600" algn="l" rtl="0" eaLnBrk="1" latinLnBrk="0" hangingPunct="1">
              <a:lnSpc>
                <a:spcPct val="100000"/>
              </a:lnSpc>
              <a:spcBef>
                <a:spcPts val="0"/>
              </a:spcBef>
              <a:spcAft>
                <a:spcPts val="0"/>
              </a:spcAft>
              <a:buClr>
                <a:schemeClr val="dk1"/>
              </a:buClr>
              <a:buSzPts val="2400"/>
              <a:buFontTx/>
              <a:buNone/>
              <a:defRPr kumimoji="0" sz="2000" kern="1200">
                <a:solidFill>
                  <a:schemeClr val="tx1"/>
                </a:solidFill>
                <a:latin typeface="+mn-lt"/>
                <a:ea typeface="+mn-ea"/>
                <a:cs typeface="+mn-cs"/>
              </a:defRPr>
            </a:lvl5pPr>
            <a:lvl6pPr marL="1645920" lvl="5" indent="-228600" algn="l" rtl="0" eaLnBrk="1" latinLnBrk="0" hangingPunct="1">
              <a:lnSpc>
                <a:spcPct val="100000"/>
              </a:lnSpc>
              <a:spcBef>
                <a:spcPts val="0"/>
              </a:spcBef>
              <a:spcAft>
                <a:spcPts val="0"/>
              </a:spcAft>
              <a:buClr>
                <a:schemeClr val="dk1"/>
              </a:buClr>
              <a:buSzPts val="2400"/>
              <a:buNone/>
              <a:defRPr kumimoji="0" sz="1800" kern="1200" baseline="0">
                <a:solidFill>
                  <a:schemeClr val="tx1"/>
                </a:solidFill>
                <a:latin typeface="+mn-lt"/>
                <a:ea typeface="+mn-ea"/>
                <a:cs typeface="+mn-cs"/>
              </a:defRPr>
            </a:lvl6pPr>
            <a:lvl7pPr marL="1920240" lvl="6"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7pPr>
            <a:lvl8pPr marL="2194560" lvl="7"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8pPr>
            <a:lvl9pPr marL="2468880" lvl="8"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9pPr>
          </a:lstStyle>
          <a:p>
            <a:pPr marL="0" indent="0" algn="just"/>
            <a:r>
              <a:rPr lang="en-US" sz="2000" b="1" dirty="0"/>
              <a:t>Phase 5: </a:t>
            </a:r>
            <a:r>
              <a:rPr lang="en-US" sz="2000" dirty="0"/>
              <a:t>Full-Scale Development.</a:t>
            </a:r>
          </a:p>
          <a:p>
            <a:pPr marL="0" indent="0" algn="just"/>
            <a:r>
              <a:rPr lang="en-US" sz="2000" b="1" dirty="0"/>
              <a:t>Timeline:</a:t>
            </a:r>
            <a:r>
              <a:rPr lang="en-US" sz="2000" dirty="0"/>
              <a:t> Months 7-9</a:t>
            </a:r>
          </a:p>
          <a:p>
            <a:pPr marL="0" indent="0" algn="just"/>
            <a:r>
              <a:rPr lang="en-US" sz="2000" b="1" dirty="0"/>
              <a:t>Tasks:</a:t>
            </a:r>
          </a:p>
          <a:p>
            <a:pPr marL="342900" indent="-342900" algn="just">
              <a:buFont typeface="Arial" panose="020B0604020202020204" pitchFamily="34" charset="0"/>
              <a:buChar char="•"/>
            </a:pPr>
            <a:r>
              <a:rPr lang="en-US" sz="2000" dirty="0"/>
              <a:t>Refine platform based on pilot feedback, adding scalability for larger user base.</a:t>
            </a:r>
          </a:p>
          <a:p>
            <a:pPr marL="342900" indent="-342900" algn="just">
              <a:buFont typeface="Arial" panose="020B0604020202020204" pitchFamily="34" charset="0"/>
              <a:buChar char="•"/>
            </a:pPr>
            <a:r>
              <a:rPr lang="en-US" sz="2000" dirty="0"/>
              <a:t>Strengthen backend infrastructure and improve app reliability.</a:t>
            </a:r>
          </a:p>
          <a:p>
            <a:pPr marL="342900" indent="-342900" algn="just">
              <a:buFont typeface="Arial" panose="020B0604020202020204" pitchFamily="34" charset="0"/>
              <a:buChar char="•"/>
            </a:pPr>
            <a:r>
              <a:rPr lang="en-US" sz="2000" dirty="0"/>
              <a:t>Expand feature set, including insurance options and enhanced tracking accuracy.</a:t>
            </a:r>
          </a:p>
          <a:p>
            <a:pPr marL="0" indent="0" algn="just"/>
            <a:r>
              <a:rPr lang="en-US" sz="2000" b="1" dirty="0"/>
              <a:t>Deliverables:</a:t>
            </a:r>
            <a:r>
              <a:rPr lang="en-US" sz="2000" dirty="0"/>
              <a:t> Ready-to-launch platform, comprehensive system test results.</a:t>
            </a:r>
          </a:p>
          <a:p>
            <a:pPr marL="228600" lvl="0" indent="-228600" algn="just" rtl="0">
              <a:lnSpc>
                <a:spcPct val="100000"/>
              </a:lnSpc>
              <a:spcBef>
                <a:spcPts val="0"/>
              </a:spcBef>
              <a:spcAft>
                <a:spcPts val="0"/>
              </a:spcAft>
              <a:buSzPts val="1800"/>
              <a:buNone/>
            </a:pPr>
            <a:endParaRPr lang="en-US" sz="1800" dirty="0"/>
          </a:p>
        </p:txBody>
      </p:sp>
      <p:sp>
        <p:nvSpPr>
          <p:cNvPr id="12" name="Google Shape;321;p11">
            <a:extLst>
              <a:ext uri="{FF2B5EF4-FFF2-40B4-BE49-F238E27FC236}">
                <a16:creationId xmlns:a16="http://schemas.microsoft.com/office/drawing/2014/main" id="{9A00DC73-F0C7-4BDF-BBA1-5EFAA41BE451}"/>
              </a:ext>
            </a:extLst>
          </p:cNvPr>
          <p:cNvSpPr txBox="1">
            <a:spLocks/>
          </p:cNvSpPr>
          <p:nvPr/>
        </p:nvSpPr>
        <p:spPr>
          <a:xfrm>
            <a:off x="8077200" y="1634231"/>
            <a:ext cx="3657600" cy="4323058"/>
          </a:xfrm>
          <a:prstGeom prst="rect">
            <a:avLst/>
          </a:prstGeom>
          <a:noFill/>
          <a:ln>
            <a:noFill/>
          </a:ln>
        </p:spPr>
        <p:txBody>
          <a:bodyPr spcFirstLastPara="1" wrap="square" lIns="91425" tIns="91425" rIns="91425" bIns="91425" anchor="t" anchorCtr="0">
            <a:noAutofit/>
          </a:bodyPr>
          <a:lstStyle>
            <a:lvl1pPr marL="274320" lvl="0" indent="-27432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1pPr>
            <a:lvl2pPr marL="548640" lvl="1"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2pPr>
            <a:lvl3pPr marL="822960" lvl="2"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3pPr>
            <a:lvl4pPr marL="1097280" lvl="3" indent="-228600" algn="l" rtl="0" eaLnBrk="1" latinLnBrk="0" hangingPunct="1">
              <a:lnSpc>
                <a:spcPct val="100000"/>
              </a:lnSpc>
              <a:spcBef>
                <a:spcPts val="0"/>
              </a:spcBef>
              <a:spcAft>
                <a:spcPts val="0"/>
              </a:spcAft>
              <a:buClr>
                <a:schemeClr val="dk1"/>
              </a:buClr>
              <a:buSzPts val="2400"/>
              <a:buFont typeface="Wingdings 2"/>
              <a:buNone/>
              <a:defRPr kumimoji="0" sz="2000" kern="1200">
                <a:solidFill>
                  <a:schemeClr val="tx1"/>
                </a:solidFill>
                <a:latin typeface="+mn-lt"/>
                <a:ea typeface="+mn-ea"/>
                <a:cs typeface="+mn-cs"/>
              </a:defRPr>
            </a:lvl4pPr>
            <a:lvl5pPr marL="1371600" lvl="4" indent="-228600" algn="l" rtl="0" eaLnBrk="1" latinLnBrk="0" hangingPunct="1">
              <a:lnSpc>
                <a:spcPct val="100000"/>
              </a:lnSpc>
              <a:spcBef>
                <a:spcPts val="0"/>
              </a:spcBef>
              <a:spcAft>
                <a:spcPts val="0"/>
              </a:spcAft>
              <a:buClr>
                <a:schemeClr val="dk1"/>
              </a:buClr>
              <a:buSzPts val="2400"/>
              <a:buFontTx/>
              <a:buNone/>
              <a:defRPr kumimoji="0" sz="2000" kern="1200">
                <a:solidFill>
                  <a:schemeClr val="tx1"/>
                </a:solidFill>
                <a:latin typeface="+mn-lt"/>
                <a:ea typeface="+mn-ea"/>
                <a:cs typeface="+mn-cs"/>
              </a:defRPr>
            </a:lvl5pPr>
            <a:lvl6pPr marL="1645920" lvl="5" indent="-228600" algn="l" rtl="0" eaLnBrk="1" latinLnBrk="0" hangingPunct="1">
              <a:lnSpc>
                <a:spcPct val="100000"/>
              </a:lnSpc>
              <a:spcBef>
                <a:spcPts val="0"/>
              </a:spcBef>
              <a:spcAft>
                <a:spcPts val="0"/>
              </a:spcAft>
              <a:buClr>
                <a:schemeClr val="dk1"/>
              </a:buClr>
              <a:buSzPts val="2400"/>
              <a:buNone/>
              <a:defRPr kumimoji="0" sz="1800" kern="1200" baseline="0">
                <a:solidFill>
                  <a:schemeClr val="tx1"/>
                </a:solidFill>
                <a:latin typeface="+mn-lt"/>
                <a:ea typeface="+mn-ea"/>
                <a:cs typeface="+mn-cs"/>
              </a:defRPr>
            </a:lvl6pPr>
            <a:lvl7pPr marL="1920240" lvl="6"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7pPr>
            <a:lvl8pPr marL="2194560" lvl="7"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8pPr>
            <a:lvl9pPr marL="2468880" lvl="8"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9pPr>
          </a:lstStyle>
          <a:p>
            <a:pPr marL="0" indent="0" algn="just"/>
            <a:r>
              <a:rPr lang="en-US" sz="2000" b="1" dirty="0"/>
              <a:t>Phase 6: </a:t>
            </a:r>
            <a:r>
              <a:rPr lang="en-US" sz="2000" dirty="0"/>
              <a:t>Go-to-Market (</a:t>
            </a:r>
            <a:r>
              <a:rPr lang="en-US" sz="2000" dirty="0" err="1"/>
              <a:t>GtM</a:t>
            </a:r>
            <a:r>
              <a:rPr lang="en-US" sz="2000" dirty="0"/>
              <a:t>) Strategy.</a:t>
            </a:r>
          </a:p>
          <a:p>
            <a:pPr marL="0" indent="0" algn="just"/>
            <a:r>
              <a:rPr lang="en-US" sz="2000" b="1" dirty="0"/>
              <a:t>Timeline:</a:t>
            </a:r>
            <a:r>
              <a:rPr lang="en-US" sz="2000" dirty="0"/>
              <a:t> Months 10-12</a:t>
            </a:r>
          </a:p>
          <a:p>
            <a:pPr marL="0" indent="0" algn="just"/>
            <a:r>
              <a:rPr lang="en-US" sz="2000" b="1" dirty="0"/>
              <a:t>Tasks:</a:t>
            </a:r>
          </a:p>
          <a:p>
            <a:pPr marL="342900" indent="-342900" algn="just">
              <a:buFont typeface="Arial" panose="020B0604020202020204" pitchFamily="34" charset="0"/>
              <a:buChar char="•"/>
            </a:pPr>
            <a:r>
              <a:rPr lang="en-US" sz="2000" dirty="0"/>
              <a:t>Finalize branding, marketing materials, and digital campaigns.</a:t>
            </a:r>
          </a:p>
          <a:p>
            <a:pPr marL="342900" indent="-342900" algn="just">
              <a:buFont typeface="Arial" panose="020B0604020202020204" pitchFamily="34" charset="0"/>
              <a:buChar char="•"/>
            </a:pPr>
            <a:r>
              <a:rPr lang="en-US" sz="2000" dirty="0"/>
              <a:t>Partner with local and regional businesses for initial growth.</a:t>
            </a:r>
          </a:p>
          <a:p>
            <a:pPr marL="342900" indent="-342900" algn="just">
              <a:buFont typeface="Arial" panose="020B0604020202020204" pitchFamily="34" charset="0"/>
              <a:buChar char="•"/>
            </a:pPr>
            <a:r>
              <a:rPr lang="en-US" sz="2000" dirty="0"/>
              <a:t>Launch PR campaigns targeting media and social channels to raise awareness.</a:t>
            </a:r>
          </a:p>
          <a:p>
            <a:pPr marL="0" indent="0" algn="just"/>
            <a:r>
              <a:rPr lang="en-US" sz="2000" b="1" dirty="0"/>
              <a:t>Deliverables:</a:t>
            </a:r>
            <a:r>
              <a:rPr lang="en-US" sz="2000" dirty="0"/>
              <a:t> Brand assets, partnership agreements, live campaigns.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11"/>
          <p:cNvSpPr txBox="1">
            <a:spLocks noGrp="1"/>
          </p:cNvSpPr>
          <p:nvPr>
            <p:ph type="ctrTitle"/>
          </p:nvPr>
        </p:nvSpPr>
        <p:spPr>
          <a:xfrm>
            <a:off x="1832115" y="595971"/>
            <a:ext cx="8397600" cy="70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850" b="1" dirty="0">
                <a:latin typeface="Tahoma"/>
                <a:ea typeface="Tahoma"/>
                <a:cs typeface="Tahoma"/>
                <a:sym typeface="Tahoma"/>
              </a:rPr>
              <a:t>Work Plan and Go-to-Market</a:t>
            </a:r>
            <a:endParaRPr sz="3866" b="1">
              <a:latin typeface="Tahoma"/>
              <a:ea typeface="Tahoma"/>
              <a:cs typeface="Tahoma"/>
              <a:sym typeface="Tahoma"/>
            </a:endParaRPr>
          </a:p>
        </p:txBody>
      </p:sp>
      <p:sp>
        <p:nvSpPr>
          <p:cNvPr id="321" name="Google Shape;321;p11"/>
          <p:cNvSpPr txBox="1">
            <a:spLocks noGrp="1"/>
          </p:cNvSpPr>
          <p:nvPr>
            <p:ph type="subTitle" idx="1"/>
          </p:nvPr>
        </p:nvSpPr>
        <p:spPr>
          <a:xfrm>
            <a:off x="838200" y="1828800"/>
            <a:ext cx="5257800" cy="4323058"/>
          </a:xfrm>
          <a:prstGeom prst="rect">
            <a:avLst/>
          </a:prstGeom>
          <a:noFill/>
          <a:ln>
            <a:noFill/>
          </a:ln>
        </p:spPr>
        <p:txBody>
          <a:bodyPr spcFirstLastPara="1" wrap="square" lIns="91425" tIns="91425" rIns="91425" bIns="91425" anchor="t" anchorCtr="0">
            <a:noAutofit/>
          </a:bodyPr>
          <a:lstStyle/>
          <a:p>
            <a:pPr marL="0" indent="0" algn="just"/>
            <a:r>
              <a:rPr lang="en-US" sz="2000" b="1" dirty="0"/>
              <a:t>Phase 7: Commercial Launch &amp; Growth Phase</a:t>
            </a:r>
            <a:endParaRPr lang="en-US" sz="2000" dirty="0"/>
          </a:p>
          <a:p>
            <a:pPr marL="0" indent="0" algn="just"/>
            <a:r>
              <a:rPr lang="en-US" sz="2000" b="1" dirty="0"/>
              <a:t>Timeline:</a:t>
            </a:r>
            <a:r>
              <a:rPr lang="en-US" sz="2000" dirty="0"/>
              <a:t> Month 12+</a:t>
            </a:r>
          </a:p>
          <a:p>
            <a:pPr marL="0" indent="0" algn="just"/>
            <a:r>
              <a:rPr lang="en-US" sz="2000" b="1" dirty="0"/>
              <a:t>Tasks:</a:t>
            </a:r>
          </a:p>
          <a:p>
            <a:pPr marL="0" indent="0" algn="just"/>
            <a:r>
              <a:rPr lang="en-US" sz="2000" dirty="0"/>
              <a:t>Officially launch Dropizi in initial markets.</a:t>
            </a:r>
          </a:p>
          <a:p>
            <a:pPr marL="0" indent="0" algn="just"/>
            <a:r>
              <a:rPr lang="en-US" sz="2000" dirty="0"/>
              <a:t>Monitor KPIs for growth, customer acquisition, and feedback.</a:t>
            </a:r>
          </a:p>
          <a:p>
            <a:pPr marL="0" indent="0" algn="just"/>
            <a:r>
              <a:rPr lang="en-US" sz="2000" dirty="0"/>
              <a:t>Expand Dropizi to additional regions and onboard new partners (e.g., e-commerce companies).</a:t>
            </a:r>
          </a:p>
          <a:p>
            <a:pPr marL="0" indent="0" algn="just"/>
            <a:r>
              <a:rPr lang="en-US" sz="2000" b="1" dirty="0"/>
              <a:t>Deliverables:</a:t>
            </a:r>
            <a:r>
              <a:rPr lang="en-US" sz="2000" dirty="0"/>
              <a:t> Performance analytics, expansion plan, customer success stories.</a:t>
            </a:r>
          </a:p>
          <a:p>
            <a:pPr marL="228600" lvl="0" indent="-228600" algn="just" rtl="0">
              <a:lnSpc>
                <a:spcPct val="100000"/>
              </a:lnSpc>
              <a:spcBef>
                <a:spcPts val="0"/>
              </a:spcBef>
              <a:spcAft>
                <a:spcPts val="0"/>
              </a:spcAft>
              <a:buSzPts val="1800"/>
              <a:buNone/>
            </a:pPr>
            <a:endParaRPr sz="1800" dirty="0"/>
          </a:p>
        </p:txBody>
      </p:sp>
      <p:pic>
        <p:nvPicPr>
          <p:cNvPr id="320" name="Google Shape;320;p11"/>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322" name="Google Shape;322;p11"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
        <p:nvSpPr>
          <p:cNvPr id="6" name="Google Shape;321;p11">
            <a:extLst>
              <a:ext uri="{FF2B5EF4-FFF2-40B4-BE49-F238E27FC236}">
                <a16:creationId xmlns:a16="http://schemas.microsoft.com/office/drawing/2014/main" id="{5533FCFA-CC3E-42DF-A27D-20BAD5304E3C}"/>
              </a:ext>
            </a:extLst>
          </p:cNvPr>
          <p:cNvSpPr txBox="1">
            <a:spLocks/>
          </p:cNvSpPr>
          <p:nvPr/>
        </p:nvSpPr>
        <p:spPr>
          <a:xfrm>
            <a:off x="6324600" y="1828800"/>
            <a:ext cx="5257800" cy="4323058"/>
          </a:xfrm>
          <a:prstGeom prst="rect">
            <a:avLst/>
          </a:prstGeom>
          <a:noFill/>
          <a:ln>
            <a:noFill/>
          </a:ln>
        </p:spPr>
        <p:txBody>
          <a:bodyPr spcFirstLastPara="1" wrap="square" lIns="91425" tIns="91425" rIns="91425" bIns="91425" anchor="t" anchorCtr="0">
            <a:noAutofit/>
          </a:bodyPr>
          <a:lstStyle>
            <a:lvl1pPr marL="274320" lvl="0" indent="-27432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1pPr>
            <a:lvl2pPr marL="548640" lvl="1"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2pPr>
            <a:lvl3pPr marL="822960" lvl="2" indent="-228600" algn="l" rtl="0" eaLnBrk="1" latinLnBrk="0" hangingPunct="1">
              <a:lnSpc>
                <a:spcPct val="100000"/>
              </a:lnSpc>
              <a:spcBef>
                <a:spcPts val="0"/>
              </a:spcBef>
              <a:spcAft>
                <a:spcPts val="0"/>
              </a:spcAft>
              <a:buClr>
                <a:schemeClr val="dk1"/>
              </a:buClr>
              <a:buSzPts val="1800"/>
              <a:buFont typeface="Wingdings 2"/>
              <a:buNone/>
              <a:defRPr kumimoji="0" sz="2400" kern="1200">
                <a:solidFill>
                  <a:schemeClr val="tx1"/>
                </a:solidFill>
                <a:latin typeface="+mn-lt"/>
                <a:ea typeface="+mn-ea"/>
                <a:cs typeface="+mn-cs"/>
              </a:defRPr>
            </a:lvl3pPr>
            <a:lvl4pPr marL="1097280" lvl="3" indent="-228600" algn="l" rtl="0" eaLnBrk="1" latinLnBrk="0" hangingPunct="1">
              <a:lnSpc>
                <a:spcPct val="100000"/>
              </a:lnSpc>
              <a:spcBef>
                <a:spcPts val="0"/>
              </a:spcBef>
              <a:spcAft>
                <a:spcPts val="0"/>
              </a:spcAft>
              <a:buClr>
                <a:schemeClr val="dk1"/>
              </a:buClr>
              <a:buSzPts val="2400"/>
              <a:buFont typeface="Wingdings 2"/>
              <a:buNone/>
              <a:defRPr kumimoji="0" sz="2000" kern="1200">
                <a:solidFill>
                  <a:schemeClr val="tx1"/>
                </a:solidFill>
                <a:latin typeface="+mn-lt"/>
                <a:ea typeface="+mn-ea"/>
                <a:cs typeface="+mn-cs"/>
              </a:defRPr>
            </a:lvl4pPr>
            <a:lvl5pPr marL="1371600" lvl="4" indent="-228600" algn="l" rtl="0" eaLnBrk="1" latinLnBrk="0" hangingPunct="1">
              <a:lnSpc>
                <a:spcPct val="100000"/>
              </a:lnSpc>
              <a:spcBef>
                <a:spcPts val="0"/>
              </a:spcBef>
              <a:spcAft>
                <a:spcPts val="0"/>
              </a:spcAft>
              <a:buClr>
                <a:schemeClr val="dk1"/>
              </a:buClr>
              <a:buSzPts val="2400"/>
              <a:buFontTx/>
              <a:buNone/>
              <a:defRPr kumimoji="0" sz="2000" kern="1200">
                <a:solidFill>
                  <a:schemeClr val="tx1"/>
                </a:solidFill>
                <a:latin typeface="+mn-lt"/>
                <a:ea typeface="+mn-ea"/>
                <a:cs typeface="+mn-cs"/>
              </a:defRPr>
            </a:lvl5pPr>
            <a:lvl6pPr marL="1645920" lvl="5" indent="-228600" algn="l" rtl="0" eaLnBrk="1" latinLnBrk="0" hangingPunct="1">
              <a:lnSpc>
                <a:spcPct val="100000"/>
              </a:lnSpc>
              <a:spcBef>
                <a:spcPts val="0"/>
              </a:spcBef>
              <a:spcAft>
                <a:spcPts val="0"/>
              </a:spcAft>
              <a:buClr>
                <a:schemeClr val="dk1"/>
              </a:buClr>
              <a:buSzPts val="2400"/>
              <a:buNone/>
              <a:defRPr kumimoji="0" sz="1800" kern="1200" baseline="0">
                <a:solidFill>
                  <a:schemeClr val="tx1"/>
                </a:solidFill>
                <a:latin typeface="+mn-lt"/>
                <a:ea typeface="+mn-ea"/>
                <a:cs typeface="+mn-cs"/>
              </a:defRPr>
            </a:lvl6pPr>
            <a:lvl7pPr marL="1920240" lvl="6"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7pPr>
            <a:lvl8pPr marL="2194560" lvl="7"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8pPr>
            <a:lvl9pPr marL="2468880" lvl="8" indent="-228600" algn="l" rtl="0" eaLnBrk="1" latinLnBrk="0" hangingPunct="1">
              <a:lnSpc>
                <a:spcPct val="100000"/>
              </a:lnSpc>
              <a:spcBef>
                <a:spcPts val="0"/>
              </a:spcBef>
              <a:spcAft>
                <a:spcPts val="0"/>
              </a:spcAft>
              <a:buClr>
                <a:schemeClr val="dk1"/>
              </a:buClr>
              <a:buSzPts val="2400"/>
              <a:buNone/>
              <a:defRPr kumimoji="0" sz="1800" kern="1200">
                <a:solidFill>
                  <a:schemeClr val="tx1"/>
                </a:solidFill>
                <a:latin typeface="+mn-lt"/>
                <a:ea typeface="+mn-ea"/>
                <a:cs typeface="+mn-cs"/>
              </a:defRPr>
            </a:lvl9pPr>
          </a:lstStyle>
          <a:p>
            <a:pPr marL="0" indent="0"/>
            <a:r>
              <a:rPr lang="en-US" sz="2000" b="1" dirty="0"/>
              <a:t>Go-to-Market (</a:t>
            </a:r>
            <a:r>
              <a:rPr lang="en-US" sz="2000" b="1" dirty="0" err="1"/>
              <a:t>GtM</a:t>
            </a:r>
            <a:r>
              <a:rPr lang="en-US" sz="2000" b="1" dirty="0"/>
              <a:t>) Plan:</a:t>
            </a:r>
          </a:p>
          <a:p>
            <a:pPr marL="0" indent="0"/>
            <a:r>
              <a:rPr lang="en-US" sz="2000" b="1" dirty="0"/>
              <a:t>Target Audience:</a:t>
            </a:r>
            <a:r>
              <a:rPr lang="en-US" sz="2000" dirty="0"/>
              <a:t> Individual users for personal deliveries, SMEs looking for reliable logistics, frequent travelers.</a:t>
            </a:r>
          </a:p>
          <a:p>
            <a:pPr marL="0" indent="0"/>
            <a:r>
              <a:rPr lang="en-US" sz="2000" b="1" dirty="0"/>
              <a:t>Marketing Channels:</a:t>
            </a:r>
            <a:r>
              <a:rPr lang="en-US" sz="2000" dirty="0"/>
              <a:t> Social media, digital advertising, influencer partnerships, and in-app referrals.</a:t>
            </a:r>
          </a:p>
          <a:p>
            <a:pPr marL="0" indent="0"/>
            <a:r>
              <a:rPr lang="en-US" sz="2000" b="1" dirty="0"/>
              <a:t>Sales Strategy:</a:t>
            </a:r>
            <a:r>
              <a:rPr lang="en-US" sz="2000" dirty="0"/>
              <a:t> Engage local businesses as early adopters and use word-of-mouth referrals.</a:t>
            </a:r>
          </a:p>
          <a:p>
            <a:pPr marL="0" indent="0"/>
            <a:r>
              <a:rPr lang="en-US" sz="2000" b="1" dirty="0"/>
              <a:t>Customer Retention:</a:t>
            </a:r>
            <a:r>
              <a:rPr lang="en-US" sz="2000" dirty="0"/>
              <a:t> Regular feature updates, customer support, and loyalty incentives for frequent users.</a:t>
            </a:r>
          </a:p>
          <a:p>
            <a:pPr marL="0" indent="0"/>
            <a:r>
              <a:rPr lang="en-US" sz="2000" b="1" dirty="0"/>
              <a:t>Expansion Plans:</a:t>
            </a:r>
            <a:r>
              <a:rPr lang="en-US" sz="2000" dirty="0"/>
              <a:t> Gradually partner with e-commerce companies like Amazon and Flipkart to broaden reach.</a:t>
            </a:r>
          </a:p>
          <a:p>
            <a:pPr marL="228600" lvl="0" indent="-228600" algn="ctr" rtl="0">
              <a:lnSpc>
                <a:spcPct val="100000"/>
              </a:lnSpc>
              <a:spcBef>
                <a:spcPts val="0"/>
              </a:spcBef>
              <a:spcAft>
                <a:spcPts val="0"/>
              </a:spcAft>
              <a:buSzPts val="1800"/>
              <a:buNone/>
            </a:pPr>
            <a:endParaRPr lang="en-US" sz="2000" b="1" dirty="0"/>
          </a:p>
          <a:p>
            <a:pPr marL="228600" indent="-228600" algn="ct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12"/>
          <p:cNvSpPr txBox="1">
            <a:spLocks noGrp="1"/>
          </p:cNvSpPr>
          <p:nvPr>
            <p:ph type="ctrTitle"/>
          </p:nvPr>
        </p:nvSpPr>
        <p:spPr>
          <a:xfrm>
            <a:off x="1832115" y="595971"/>
            <a:ext cx="8397600" cy="70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866" b="1">
                <a:latin typeface="Tahoma"/>
                <a:ea typeface="Tahoma"/>
                <a:cs typeface="Tahoma"/>
                <a:sym typeface="Tahoma"/>
              </a:rPr>
              <a:t>Competitive Landscape</a:t>
            </a:r>
            <a:endParaRPr/>
          </a:p>
        </p:txBody>
      </p:sp>
      <p:pic>
        <p:nvPicPr>
          <p:cNvPr id="328" name="Google Shape;328;p12"/>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329" name="Google Shape;329;p12"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
        <p:nvSpPr>
          <p:cNvPr id="6" name="Rectangle 5"/>
          <p:cNvSpPr/>
          <p:nvPr/>
        </p:nvSpPr>
        <p:spPr>
          <a:xfrm>
            <a:off x="762000" y="1555521"/>
            <a:ext cx="5486400" cy="4247317"/>
          </a:xfrm>
          <a:prstGeom prst="rect">
            <a:avLst/>
          </a:prstGeom>
        </p:spPr>
        <p:txBody>
          <a:bodyPr wrap="square">
            <a:spAutoFit/>
          </a:bodyPr>
          <a:lstStyle/>
          <a:p>
            <a:r>
              <a:rPr lang="en-US" sz="1800" dirty="0">
                <a:latin typeface="+mn-lt"/>
              </a:rPr>
              <a:t>1. </a:t>
            </a:r>
            <a:r>
              <a:rPr lang="en-US" sz="1800" b="1" dirty="0">
                <a:latin typeface="+mn-lt"/>
              </a:rPr>
              <a:t>DHL, FedEx, and UPS</a:t>
            </a:r>
            <a:endParaRPr lang="en-US" sz="1800" dirty="0">
              <a:latin typeface="+mn-lt"/>
            </a:endParaRPr>
          </a:p>
          <a:p>
            <a:r>
              <a:rPr lang="en-US" sz="1800" b="1" dirty="0">
                <a:latin typeface="+mn-lt"/>
              </a:rPr>
              <a:t>Strengths:</a:t>
            </a:r>
            <a:endParaRPr lang="en-US" sz="1800" dirty="0">
              <a:latin typeface="+mn-lt"/>
            </a:endParaRPr>
          </a:p>
          <a:p>
            <a:pPr lvl="1"/>
            <a:r>
              <a:rPr lang="en-US" sz="1800" dirty="0">
                <a:latin typeface="+mn-lt"/>
              </a:rPr>
              <a:t>Extensive global network and infrastructure for fast international and domestic deliveries.</a:t>
            </a:r>
          </a:p>
          <a:p>
            <a:pPr lvl="1"/>
            <a:r>
              <a:rPr lang="en-US" sz="1800" dirty="0">
                <a:latin typeface="+mn-lt"/>
              </a:rPr>
              <a:t>Strong brand reputation, high reliability, and established customer trust.</a:t>
            </a:r>
          </a:p>
          <a:p>
            <a:pPr lvl="1"/>
            <a:r>
              <a:rPr lang="en-US" sz="1800" dirty="0">
                <a:latin typeface="+mn-lt"/>
              </a:rPr>
              <a:t>Advanced tracking systems and guaranteed delivery times, appealing to business clients.</a:t>
            </a:r>
          </a:p>
          <a:p>
            <a:r>
              <a:rPr lang="en-US" sz="1800" b="1" dirty="0">
                <a:latin typeface="+mn-lt"/>
              </a:rPr>
              <a:t>Weaknesses:</a:t>
            </a:r>
            <a:endParaRPr lang="en-US" sz="1800" dirty="0">
              <a:latin typeface="+mn-lt"/>
            </a:endParaRPr>
          </a:p>
          <a:p>
            <a:pPr lvl="1"/>
            <a:r>
              <a:rPr lang="en-US" sz="1800" dirty="0">
                <a:latin typeface="+mn-lt"/>
              </a:rPr>
              <a:t>High operational costs, leading to higher customer pricing.</a:t>
            </a:r>
          </a:p>
          <a:p>
            <a:pPr lvl="1"/>
            <a:r>
              <a:rPr lang="en-US" sz="1800" dirty="0">
                <a:latin typeface="+mn-lt"/>
              </a:rPr>
              <a:t>Limited flexibility for personalized deliveries, especially for individual and casual users.</a:t>
            </a:r>
          </a:p>
          <a:p>
            <a:pPr lvl="1"/>
            <a:r>
              <a:rPr lang="en-US" sz="1800" dirty="0">
                <a:latin typeface="+mn-lt"/>
              </a:rPr>
              <a:t>Often lack adaptability for smaller-scale, personal deliveries, which makes </a:t>
            </a:r>
            <a:r>
              <a:rPr lang="en-US" sz="1800" dirty="0" err="1">
                <a:latin typeface="+mn-lt"/>
              </a:rPr>
              <a:t>Dropizi’s</a:t>
            </a:r>
            <a:r>
              <a:rPr lang="en-US" sz="1800" dirty="0">
                <a:latin typeface="+mn-lt"/>
              </a:rPr>
              <a:t> individual delivery focus a unique differentiator.</a:t>
            </a:r>
          </a:p>
        </p:txBody>
      </p:sp>
      <p:sp>
        <p:nvSpPr>
          <p:cNvPr id="7" name="Rectangle 6"/>
          <p:cNvSpPr/>
          <p:nvPr/>
        </p:nvSpPr>
        <p:spPr>
          <a:xfrm>
            <a:off x="6248400" y="1555521"/>
            <a:ext cx="5029200" cy="4524315"/>
          </a:xfrm>
          <a:prstGeom prst="rect">
            <a:avLst/>
          </a:prstGeom>
        </p:spPr>
        <p:txBody>
          <a:bodyPr wrap="square">
            <a:spAutoFit/>
          </a:bodyPr>
          <a:lstStyle/>
          <a:p>
            <a:r>
              <a:rPr lang="en-US" sz="1800" b="1" dirty="0">
                <a:latin typeface="+mn-lt"/>
              </a:rPr>
              <a:t>2. India Post</a:t>
            </a:r>
            <a:endParaRPr lang="en-US" sz="1800" dirty="0">
              <a:latin typeface="+mn-lt"/>
            </a:endParaRPr>
          </a:p>
          <a:p>
            <a:r>
              <a:rPr lang="en-US" sz="1800" b="1" dirty="0">
                <a:latin typeface="+mn-lt"/>
              </a:rPr>
              <a:t>Strengths:</a:t>
            </a:r>
            <a:endParaRPr lang="en-US" sz="1800" dirty="0">
              <a:latin typeface="+mn-lt"/>
            </a:endParaRPr>
          </a:p>
          <a:p>
            <a:pPr lvl="1"/>
            <a:r>
              <a:rPr lang="en-US" sz="1800" dirty="0">
                <a:latin typeface="+mn-lt"/>
              </a:rPr>
              <a:t>Broadest network in India, even reaching remote rural areas.</a:t>
            </a:r>
          </a:p>
          <a:p>
            <a:pPr lvl="1"/>
            <a:r>
              <a:rPr lang="en-US" sz="1800" dirty="0">
                <a:latin typeface="+mn-lt"/>
              </a:rPr>
              <a:t>Affordable pricing options, making it appealing to budget-conscious customers.</a:t>
            </a:r>
          </a:p>
          <a:p>
            <a:pPr lvl="1"/>
            <a:r>
              <a:rPr lang="en-US" sz="1800" dirty="0">
                <a:latin typeface="+mn-lt"/>
              </a:rPr>
              <a:t>Government-backed, ensuring high trust and extensive customer base in India.</a:t>
            </a:r>
          </a:p>
          <a:p>
            <a:r>
              <a:rPr lang="en-US" sz="1800" b="1" dirty="0">
                <a:latin typeface="+mn-lt"/>
              </a:rPr>
              <a:t>Weaknesses:</a:t>
            </a:r>
            <a:endParaRPr lang="en-US" sz="1800" dirty="0">
              <a:latin typeface="+mn-lt"/>
            </a:endParaRPr>
          </a:p>
          <a:p>
            <a:pPr lvl="1"/>
            <a:r>
              <a:rPr lang="en-US" sz="1800" dirty="0">
                <a:latin typeface="+mn-lt"/>
              </a:rPr>
              <a:t>Limited technology integration, leading to slower parcel tracking updates.</a:t>
            </a:r>
          </a:p>
          <a:p>
            <a:pPr lvl="1"/>
            <a:r>
              <a:rPr lang="en-US" sz="1800" dirty="0">
                <a:latin typeface="+mn-lt"/>
              </a:rPr>
              <a:t>Often faces delays and reliability issues, especially in urban and fast-paced delivery contexts.</a:t>
            </a:r>
          </a:p>
          <a:p>
            <a:pPr lvl="1"/>
            <a:r>
              <a:rPr lang="en-US" sz="1800" dirty="0">
                <a:latin typeface="+mn-lt"/>
              </a:rPr>
              <a:t>Fewer options for real-time support and customized delivery, which Dropizi can leverage with real-time tracking and personalized options.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12"/>
          <p:cNvSpPr txBox="1">
            <a:spLocks noGrp="1"/>
          </p:cNvSpPr>
          <p:nvPr>
            <p:ph type="ctrTitle"/>
          </p:nvPr>
        </p:nvSpPr>
        <p:spPr>
          <a:xfrm>
            <a:off x="1832115" y="595971"/>
            <a:ext cx="8397600" cy="70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866" b="1" dirty="0">
                <a:latin typeface="Tahoma"/>
                <a:ea typeface="Tahoma"/>
                <a:cs typeface="Tahoma"/>
                <a:sym typeface="Tahoma"/>
              </a:rPr>
              <a:t>Competitive Landscape</a:t>
            </a:r>
            <a:endParaRPr/>
          </a:p>
        </p:txBody>
      </p:sp>
      <p:pic>
        <p:nvPicPr>
          <p:cNvPr id="328" name="Google Shape;328;p12"/>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329" name="Google Shape;329;p12"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
        <p:nvSpPr>
          <p:cNvPr id="6" name="Rectangle 5"/>
          <p:cNvSpPr/>
          <p:nvPr/>
        </p:nvSpPr>
        <p:spPr>
          <a:xfrm>
            <a:off x="762000" y="1516082"/>
            <a:ext cx="5562600" cy="3970318"/>
          </a:xfrm>
          <a:prstGeom prst="rect">
            <a:avLst/>
          </a:prstGeom>
        </p:spPr>
        <p:txBody>
          <a:bodyPr wrap="square">
            <a:spAutoFit/>
          </a:bodyPr>
          <a:lstStyle/>
          <a:p>
            <a:r>
              <a:rPr lang="en-US" sz="1800" dirty="0">
                <a:latin typeface="+mn-lt"/>
              </a:rPr>
              <a:t>3. </a:t>
            </a:r>
            <a:r>
              <a:rPr lang="en-US" sz="1800" b="1" dirty="0" err="1">
                <a:latin typeface="+mn-lt"/>
              </a:rPr>
              <a:t>Dunzo</a:t>
            </a:r>
            <a:r>
              <a:rPr lang="en-US" sz="1800" b="1" dirty="0">
                <a:latin typeface="+mn-lt"/>
              </a:rPr>
              <a:t> and </a:t>
            </a:r>
            <a:r>
              <a:rPr lang="en-US" sz="1800" b="1" dirty="0" err="1">
                <a:latin typeface="+mn-lt"/>
              </a:rPr>
              <a:t>Swiggy</a:t>
            </a:r>
            <a:r>
              <a:rPr lang="en-US" sz="1800" b="1" dirty="0">
                <a:latin typeface="+mn-lt"/>
              </a:rPr>
              <a:t> Genie</a:t>
            </a:r>
            <a:endParaRPr lang="en-US" sz="1800" dirty="0">
              <a:latin typeface="+mn-lt"/>
            </a:endParaRPr>
          </a:p>
          <a:p>
            <a:r>
              <a:rPr lang="en-US" sz="1800" b="1" dirty="0">
                <a:latin typeface="+mn-lt"/>
              </a:rPr>
              <a:t>Strengths:</a:t>
            </a:r>
            <a:endParaRPr lang="en-US" sz="1800" dirty="0">
              <a:latin typeface="+mn-lt"/>
            </a:endParaRPr>
          </a:p>
          <a:p>
            <a:pPr lvl="1"/>
            <a:r>
              <a:rPr lang="en-US" sz="1800" dirty="0">
                <a:latin typeface="+mn-lt"/>
              </a:rPr>
              <a:t>Focused on intra-city, fast, and convenient deliveries, making them ideal for same-day and last-mile deliveries.</a:t>
            </a:r>
          </a:p>
          <a:p>
            <a:pPr lvl="1"/>
            <a:r>
              <a:rPr lang="en-US" sz="1800" dirty="0">
                <a:latin typeface="+mn-lt"/>
              </a:rPr>
              <a:t>Strong technology integration with user-friendly apps and real-time tracking.</a:t>
            </a:r>
          </a:p>
          <a:p>
            <a:pPr lvl="1"/>
            <a:r>
              <a:rPr lang="en-US" sz="1800" dirty="0">
                <a:latin typeface="+mn-lt"/>
              </a:rPr>
              <a:t>Large, established customer base in urban areas.</a:t>
            </a:r>
          </a:p>
          <a:p>
            <a:r>
              <a:rPr lang="en-US" sz="1800" b="1" dirty="0">
                <a:latin typeface="+mn-lt"/>
              </a:rPr>
              <a:t>Weaknesses:</a:t>
            </a:r>
            <a:endParaRPr lang="en-US" sz="1800" dirty="0">
              <a:latin typeface="+mn-lt"/>
            </a:endParaRPr>
          </a:p>
          <a:p>
            <a:pPr lvl="1"/>
            <a:r>
              <a:rPr lang="en-US" sz="1800" dirty="0">
                <a:latin typeface="+mn-lt"/>
              </a:rPr>
              <a:t>Limited to major cities, which restricts scalability to regional and inter-city delivery.</a:t>
            </a:r>
          </a:p>
          <a:p>
            <a:pPr lvl="1"/>
            <a:r>
              <a:rPr lang="en-US" sz="1800" dirty="0">
                <a:latin typeface="+mn-lt"/>
              </a:rPr>
              <a:t>Often high pricing for larger or long-distance parcels.</a:t>
            </a:r>
          </a:p>
          <a:p>
            <a:pPr lvl="1"/>
            <a:r>
              <a:rPr lang="en-US" sz="1800" dirty="0">
                <a:latin typeface="+mn-lt"/>
              </a:rPr>
              <a:t>Service model is not geared towards connecting travelers, which </a:t>
            </a:r>
            <a:r>
              <a:rPr lang="en-US" sz="1800" dirty="0" err="1">
                <a:latin typeface="+mn-lt"/>
              </a:rPr>
              <a:t>Dropizi’s</a:t>
            </a:r>
            <a:r>
              <a:rPr lang="en-US" sz="1800" dirty="0">
                <a:latin typeface="+mn-lt"/>
              </a:rPr>
              <a:t> community-driven, travel-based model can offer for cost-saving and reach.</a:t>
            </a:r>
          </a:p>
        </p:txBody>
      </p:sp>
      <p:sp>
        <p:nvSpPr>
          <p:cNvPr id="7" name="Rectangle 6"/>
          <p:cNvSpPr/>
          <p:nvPr/>
        </p:nvSpPr>
        <p:spPr>
          <a:xfrm>
            <a:off x="6477000" y="1467683"/>
            <a:ext cx="5200515" cy="4247317"/>
          </a:xfrm>
          <a:prstGeom prst="rect">
            <a:avLst/>
          </a:prstGeom>
        </p:spPr>
        <p:txBody>
          <a:bodyPr wrap="square">
            <a:spAutoFit/>
          </a:bodyPr>
          <a:lstStyle/>
          <a:p>
            <a:r>
              <a:rPr lang="en-US" sz="1800" b="1" dirty="0">
                <a:latin typeface="+mn-lt"/>
              </a:rPr>
              <a:t>4. Porter and </a:t>
            </a:r>
            <a:r>
              <a:rPr lang="en-US" sz="1800" b="1" dirty="0" err="1">
                <a:latin typeface="+mn-lt"/>
              </a:rPr>
              <a:t>Delhivery</a:t>
            </a:r>
            <a:endParaRPr lang="en-US" sz="1800" dirty="0">
              <a:latin typeface="+mn-lt"/>
            </a:endParaRPr>
          </a:p>
          <a:p>
            <a:r>
              <a:rPr lang="en-US" sz="1800" b="1" dirty="0">
                <a:latin typeface="+mn-lt"/>
              </a:rPr>
              <a:t>Strengths:</a:t>
            </a:r>
            <a:endParaRPr lang="en-US" sz="1800" dirty="0">
              <a:latin typeface="+mn-lt"/>
            </a:endParaRPr>
          </a:p>
          <a:p>
            <a:pPr lvl="1"/>
            <a:r>
              <a:rPr lang="en-US" sz="1800" dirty="0">
                <a:latin typeface="+mn-lt"/>
              </a:rPr>
              <a:t>Wide reach across India, capable of handling large volumes of parcels for SMEs and businesses.</a:t>
            </a:r>
          </a:p>
          <a:p>
            <a:pPr lvl="1"/>
            <a:r>
              <a:rPr lang="en-US" sz="1800" dirty="0">
                <a:latin typeface="+mn-lt"/>
              </a:rPr>
              <a:t>Well-developed logistics infrastructure, often used by e-commerce companies.</a:t>
            </a:r>
          </a:p>
          <a:p>
            <a:pPr lvl="1"/>
            <a:r>
              <a:rPr lang="en-US" sz="1800" dirty="0">
                <a:latin typeface="+mn-lt"/>
              </a:rPr>
              <a:t>Reliable for large and bulk deliveries with competitive pricing options.</a:t>
            </a:r>
          </a:p>
          <a:p>
            <a:r>
              <a:rPr lang="en-US" sz="1800" b="1" dirty="0">
                <a:latin typeface="+mn-lt"/>
              </a:rPr>
              <a:t>Weaknesses:</a:t>
            </a:r>
            <a:endParaRPr lang="en-US" sz="1800" dirty="0">
              <a:latin typeface="+mn-lt"/>
            </a:endParaRPr>
          </a:p>
          <a:p>
            <a:pPr lvl="1"/>
            <a:r>
              <a:rPr lang="en-US" sz="1800" dirty="0">
                <a:latin typeface="+mn-lt"/>
              </a:rPr>
              <a:t>Primarily business-focused, with fewer options for personal or casual deliveries.</a:t>
            </a:r>
          </a:p>
          <a:p>
            <a:pPr lvl="1"/>
            <a:r>
              <a:rPr lang="en-US" sz="1800" dirty="0">
                <a:latin typeface="+mn-lt"/>
              </a:rPr>
              <a:t>Service experience can lack personalization for individual users, especially when compared with </a:t>
            </a:r>
            <a:r>
              <a:rPr lang="en-US" sz="1800" dirty="0" err="1">
                <a:latin typeface="+mn-lt"/>
              </a:rPr>
              <a:t>Dropizi’s</a:t>
            </a:r>
            <a:r>
              <a:rPr lang="en-US" sz="1800" dirty="0">
                <a:latin typeface="+mn-lt"/>
              </a:rPr>
              <a:t> traveler-based model.</a:t>
            </a:r>
          </a:p>
          <a:p>
            <a:endParaRPr lang="en-US" sz="1800"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12"/>
          <p:cNvSpPr txBox="1">
            <a:spLocks noGrp="1"/>
          </p:cNvSpPr>
          <p:nvPr>
            <p:ph type="ctrTitle"/>
          </p:nvPr>
        </p:nvSpPr>
        <p:spPr>
          <a:xfrm>
            <a:off x="1832115" y="595971"/>
            <a:ext cx="8397600" cy="70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866" b="1" dirty="0">
                <a:latin typeface="Tahoma"/>
                <a:ea typeface="Tahoma"/>
                <a:cs typeface="Tahoma"/>
                <a:sym typeface="Tahoma"/>
              </a:rPr>
              <a:t>Competitive Landscape</a:t>
            </a:r>
            <a:endParaRPr/>
          </a:p>
        </p:txBody>
      </p:sp>
      <p:pic>
        <p:nvPicPr>
          <p:cNvPr id="328" name="Google Shape;328;p12"/>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329" name="Google Shape;329;p12"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
        <p:nvSpPr>
          <p:cNvPr id="7" name="Rectangle 6"/>
          <p:cNvSpPr/>
          <p:nvPr/>
        </p:nvSpPr>
        <p:spPr>
          <a:xfrm>
            <a:off x="762000" y="2139077"/>
            <a:ext cx="5029200" cy="2585323"/>
          </a:xfrm>
          <a:prstGeom prst="rect">
            <a:avLst/>
          </a:prstGeom>
        </p:spPr>
        <p:txBody>
          <a:bodyPr wrap="square">
            <a:spAutoFit/>
          </a:bodyPr>
          <a:lstStyle/>
          <a:p>
            <a:r>
              <a:rPr lang="en-US" sz="1800" b="1" dirty="0">
                <a:latin typeface="+mn-lt"/>
              </a:rPr>
              <a:t>Traveler-Based Delivery Model:</a:t>
            </a:r>
            <a:br>
              <a:rPr lang="en-US" sz="1800" dirty="0">
                <a:latin typeface="+mn-lt"/>
              </a:rPr>
            </a:br>
            <a:r>
              <a:rPr lang="en-US" sz="1800" dirty="0" err="1">
                <a:latin typeface="+mn-lt"/>
              </a:rPr>
              <a:t>Dropizi’s</a:t>
            </a:r>
            <a:r>
              <a:rPr lang="en-US" sz="1800" dirty="0">
                <a:latin typeface="+mn-lt"/>
              </a:rPr>
              <a:t> model allows individuals already traveling in a certain direction to deliver parcels along their routes. This community-driven approach reduces logistical costs, offers more flexible delivery times, and encourages a faster, more sustainable delivery method. By connecting senders directly with verified travelers, Dropizi ensures a unique level of personalized service not commonly found in traditional courier systems.</a:t>
            </a:r>
          </a:p>
        </p:txBody>
      </p:sp>
      <p:sp>
        <p:nvSpPr>
          <p:cNvPr id="8" name="Rectangle 7"/>
          <p:cNvSpPr/>
          <p:nvPr/>
        </p:nvSpPr>
        <p:spPr>
          <a:xfrm>
            <a:off x="771617" y="4674275"/>
            <a:ext cx="5105400" cy="2031325"/>
          </a:xfrm>
          <a:prstGeom prst="rect">
            <a:avLst/>
          </a:prstGeom>
        </p:spPr>
        <p:txBody>
          <a:bodyPr wrap="square">
            <a:spAutoFit/>
          </a:bodyPr>
          <a:lstStyle/>
          <a:p>
            <a:r>
              <a:rPr lang="en-US" sz="1800" b="1" dirty="0">
                <a:latin typeface="+mn-lt"/>
              </a:rPr>
              <a:t>Cost Efficiency and Customizable Pricing:</a:t>
            </a:r>
            <a:br>
              <a:rPr lang="en-US" sz="1800" dirty="0">
                <a:latin typeface="+mn-lt"/>
              </a:rPr>
            </a:br>
            <a:r>
              <a:rPr lang="en-US" sz="1800" dirty="0">
                <a:latin typeface="+mn-lt"/>
              </a:rPr>
              <a:t>Dropizi offers affordable, tiered pricing tailored to parcel size, weight, and delivery distance. Unlike competitors, who often have fixed or high costs for personalized service, </a:t>
            </a:r>
            <a:r>
              <a:rPr lang="en-US" sz="1800" dirty="0" err="1">
                <a:latin typeface="+mn-lt"/>
              </a:rPr>
              <a:t>Dropizi’s</a:t>
            </a:r>
            <a:r>
              <a:rPr lang="en-US" sz="1800" dirty="0">
                <a:latin typeface="+mn-lt"/>
              </a:rPr>
              <a:t> pricing flexibility appeals to individuals and small businesses looking for cost-effective logistics solutions without sacrificing speed or security.</a:t>
            </a:r>
          </a:p>
        </p:txBody>
      </p:sp>
      <p:sp>
        <p:nvSpPr>
          <p:cNvPr id="9" name="Rectangle 8"/>
          <p:cNvSpPr/>
          <p:nvPr/>
        </p:nvSpPr>
        <p:spPr>
          <a:xfrm>
            <a:off x="6324600" y="2133600"/>
            <a:ext cx="5181600" cy="2308324"/>
          </a:xfrm>
          <a:prstGeom prst="rect">
            <a:avLst/>
          </a:prstGeom>
        </p:spPr>
        <p:txBody>
          <a:bodyPr wrap="square">
            <a:spAutoFit/>
          </a:bodyPr>
          <a:lstStyle/>
          <a:p>
            <a:r>
              <a:rPr lang="en-US" sz="1800" b="1" dirty="0">
                <a:latin typeface="+mn-lt"/>
              </a:rPr>
              <a:t>Hub-Based Delivery Network for Improved Reach:</a:t>
            </a:r>
            <a:br>
              <a:rPr lang="en-US" sz="1800" dirty="0">
                <a:latin typeface="+mn-lt"/>
              </a:rPr>
            </a:br>
            <a:r>
              <a:rPr lang="en-US" sz="1800" dirty="0">
                <a:latin typeface="+mn-lt"/>
              </a:rPr>
              <a:t>With a growing network of local hubs, Dropizi strategically leverages pickup and drop-off points, making it easier to handle last-mile delivery while minimizing travel requirements for both senders and travelers. This adds scalability and provides a localized presence that competitors often lack, especially in semi-urban and rural areas.</a:t>
            </a:r>
          </a:p>
        </p:txBody>
      </p:sp>
      <p:sp>
        <p:nvSpPr>
          <p:cNvPr id="10" name="Rectangle 9"/>
          <p:cNvSpPr/>
          <p:nvPr/>
        </p:nvSpPr>
        <p:spPr>
          <a:xfrm>
            <a:off x="6324600" y="4369475"/>
            <a:ext cx="5105400" cy="2031325"/>
          </a:xfrm>
          <a:prstGeom prst="rect">
            <a:avLst/>
          </a:prstGeom>
        </p:spPr>
        <p:txBody>
          <a:bodyPr wrap="square">
            <a:spAutoFit/>
          </a:bodyPr>
          <a:lstStyle/>
          <a:p>
            <a:r>
              <a:rPr lang="en-US" sz="1800" b="1" dirty="0">
                <a:latin typeface="+mn-lt"/>
              </a:rPr>
              <a:t>Real-Time Tracking and Communication</a:t>
            </a:r>
            <a:br>
              <a:rPr lang="en-US" sz="1800" dirty="0">
                <a:latin typeface="+mn-lt"/>
              </a:rPr>
            </a:br>
            <a:r>
              <a:rPr lang="en-US" sz="1800" dirty="0">
                <a:latin typeface="+mn-lt"/>
              </a:rPr>
              <a:t>Through </a:t>
            </a:r>
            <a:r>
              <a:rPr lang="en-US" sz="1800" dirty="0" err="1">
                <a:latin typeface="+mn-lt"/>
              </a:rPr>
              <a:t>Dropizi’s</a:t>
            </a:r>
            <a:r>
              <a:rPr lang="en-US" sz="1800" dirty="0">
                <a:latin typeface="+mn-lt"/>
              </a:rPr>
              <a:t> integrated tracking and communication tools, senders can receive live updates on their parcel status and contact the traveler directly. This creates a transparent, user-friendly experience that instills trust and enhances convenience, providing an edge over many traditional courier services.</a:t>
            </a:r>
          </a:p>
        </p:txBody>
      </p:sp>
      <p:sp>
        <p:nvSpPr>
          <p:cNvPr id="11" name="Rectangle 10"/>
          <p:cNvSpPr/>
          <p:nvPr/>
        </p:nvSpPr>
        <p:spPr>
          <a:xfrm>
            <a:off x="762000" y="1471136"/>
            <a:ext cx="10864096" cy="738664"/>
          </a:xfrm>
          <a:prstGeom prst="rect">
            <a:avLst/>
          </a:prstGeom>
        </p:spPr>
        <p:txBody>
          <a:bodyPr wrap="square">
            <a:spAutoFit/>
          </a:bodyPr>
          <a:lstStyle/>
          <a:p>
            <a:r>
              <a:rPr lang="en-US" sz="2400" b="1" dirty="0">
                <a:latin typeface="+mn-lt"/>
              </a:rPr>
              <a:t>Differentiators and Competitive Edge of Dropizi:</a:t>
            </a:r>
          </a:p>
          <a:p>
            <a:endParaRPr lang="en-US" sz="1800"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12"/>
          <p:cNvSpPr txBox="1">
            <a:spLocks noGrp="1"/>
          </p:cNvSpPr>
          <p:nvPr>
            <p:ph type="ctrTitle"/>
          </p:nvPr>
        </p:nvSpPr>
        <p:spPr>
          <a:xfrm>
            <a:off x="1832115" y="595971"/>
            <a:ext cx="8397600" cy="70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866" b="1" dirty="0">
                <a:latin typeface="Tahoma"/>
                <a:ea typeface="Tahoma"/>
                <a:cs typeface="Tahoma"/>
                <a:sym typeface="Tahoma"/>
              </a:rPr>
              <a:t>Competitive Landscape</a:t>
            </a:r>
            <a:endParaRPr/>
          </a:p>
        </p:txBody>
      </p:sp>
      <p:pic>
        <p:nvPicPr>
          <p:cNvPr id="328" name="Google Shape;328;p12"/>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329" name="Google Shape;329;p12"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
        <p:nvSpPr>
          <p:cNvPr id="7" name="Rectangle 6"/>
          <p:cNvSpPr/>
          <p:nvPr/>
        </p:nvSpPr>
        <p:spPr>
          <a:xfrm>
            <a:off x="838200" y="1600200"/>
            <a:ext cx="5105400" cy="2031325"/>
          </a:xfrm>
          <a:prstGeom prst="rect">
            <a:avLst/>
          </a:prstGeom>
        </p:spPr>
        <p:txBody>
          <a:bodyPr wrap="square">
            <a:spAutoFit/>
          </a:bodyPr>
          <a:lstStyle/>
          <a:p>
            <a:r>
              <a:rPr lang="en-US" sz="1800" b="1" dirty="0">
                <a:latin typeface="+mn-lt"/>
              </a:rPr>
              <a:t>Unique Focus on Personal Deliveries:</a:t>
            </a:r>
            <a:br>
              <a:rPr lang="en-US" sz="1800" dirty="0">
                <a:latin typeface="+mn-lt"/>
              </a:rPr>
            </a:br>
            <a:r>
              <a:rPr lang="en-US" sz="1800" dirty="0">
                <a:latin typeface="+mn-lt"/>
              </a:rPr>
              <a:t>Dropizi fills a market gap by catering to personal delivery needs, making it ideal for individuals sending gifts, sensitive items, or urgent documents. Traditional services often prioritize business shipments, whereas Dropizi centers on individual users, providing a more personalized and secure approach.</a:t>
            </a:r>
          </a:p>
        </p:txBody>
      </p:sp>
      <p:sp>
        <p:nvSpPr>
          <p:cNvPr id="8" name="Rectangle 7"/>
          <p:cNvSpPr/>
          <p:nvPr/>
        </p:nvSpPr>
        <p:spPr>
          <a:xfrm>
            <a:off x="6172200" y="1600199"/>
            <a:ext cx="5334000" cy="2031325"/>
          </a:xfrm>
          <a:prstGeom prst="rect">
            <a:avLst/>
          </a:prstGeom>
        </p:spPr>
        <p:txBody>
          <a:bodyPr wrap="square">
            <a:spAutoFit/>
          </a:bodyPr>
          <a:lstStyle/>
          <a:p>
            <a:r>
              <a:rPr lang="en-US" sz="1800" b="1" dirty="0">
                <a:latin typeface="+mn-lt"/>
              </a:rPr>
              <a:t>Scalable Partnerships with E-Commerce:</a:t>
            </a:r>
            <a:br>
              <a:rPr lang="en-US" sz="1800" dirty="0">
                <a:latin typeface="+mn-lt"/>
              </a:rPr>
            </a:br>
            <a:r>
              <a:rPr lang="en-US" sz="1800" dirty="0">
                <a:latin typeface="+mn-lt"/>
              </a:rPr>
              <a:t>Dropizi aims to partner with online shopping giants like Amazon and Flipkart, enabling quick, cost-effective delivery solutions for e-commerce businesses. This enhances the platform’s scalability, creating a significant competitive edge by extending its reach into the rapidly growing e-commerce sector.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13"/>
          <p:cNvSpPr txBox="1">
            <a:spLocks noGrp="1"/>
          </p:cNvSpPr>
          <p:nvPr>
            <p:ph type="ctrTitle"/>
          </p:nvPr>
        </p:nvSpPr>
        <p:spPr>
          <a:xfrm>
            <a:off x="1832115" y="595971"/>
            <a:ext cx="8397600" cy="70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200" b="1">
                <a:latin typeface="Tahoma"/>
                <a:ea typeface="Tahoma"/>
                <a:cs typeface="Tahoma"/>
                <a:sym typeface="Tahoma"/>
              </a:rPr>
              <a:t>Funding Details from Other Investors</a:t>
            </a:r>
            <a:endParaRPr/>
          </a:p>
        </p:txBody>
      </p:sp>
      <p:sp>
        <p:nvSpPr>
          <p:cNvPr id="337" name="Google Shape;337;p13"/>
          <p:cNvSpPr txBox="1">
            <a:spLocks noGrp="1"/>
          </p:cNvSpPr>
          <p:nvPr>
            <p:ph type="subTitle" idx="1"/>
          </p:nvPr>
        </p:nvSpPr>
        <p:spPr>
          <a:xfrm>
            <a:off x="861060" y="1486268"/>
            <a:ext cx="10469880" cy="808980"/>
          </a:xfrm>
          <a:prstGeom prst="rect">
            <a:avLst/>
          </a:prstGeom>
          <a:noFill/>
          <a:ln>
            <a:noFill/>
          </a:ln>
        </p:spPr>
        <p:txBody>
          <a:bodyPr spcFirstLastPara="1" wrap="square" lIns="91425" tIns="91425" rIns="91425" bIns="91425" anchor="t" anchorCtr="0">
            <a:noAutofit/>
          </a:bodyPr>
          <a:lstStyle/>
          <a:p>
            <a:pPr marL="228600" lvl="0" indent="-228600" algn="ctr" rtl="0">
              <a:lnSpc>
                <a:spcPct val="100000"/>
              </a:lnSpc>
              <a:spcBef>
                <a:spcPts val="0"/>
              </a:spcBef>
              <a:spcAft>
                <a:spcPts val="0"/>
              </a:spcAft>
              <a:buSzPts val="1800"/>
              <a:buNone/>
            </a:pPr>
            <a:r>
              <a:rPr lang="en-US" sz="2000" dirty="0"/>
              <a:t>There are no investors in our project till now</a:t>
            </a:r>
            <a:endParaRPr sz="2000"/>
          </a:p>
        </p:txBody>
      </p:sp>
      <p:pic>
        <p:nvPicPr>
          <p:cNvPr id="336" name="Google Shape;336;p13"/>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338" name="Google Shape;338;p13"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4"/>
          <p:cNvSpPr txBox="1">
            <a:spLocks noGrp="1"/>
          </p:cNvSpPr>
          <p:nvPr>
            <p:ph type="ctrTitle"/>
          </p:nvPr>
        </p:nvSpPr>
        <p:spPr>
          <a:xfrm>
            <a:off x="1832115" y="76200"/>
            <a:ext cx="8397600" cy="709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3200" b="1">
                <a:latin typeface="Tahoma"/>
                <a:ea typeface="Tahoma"/>
                <a:cs typeface="Tahoma"/>
                <a:sym typeface="Tahoma"/>
              </a:rPr>
              <a:t>Ask from IIT Mandi iHub</a:t>
            </a:r>
            <a:endParaRPr sz="3200" b="1">
              <a:latin typeface="Tahoma"/>
              <a:ea typeface="Tahoma"/>
              <a:cs typeface="Tahoma"/>
              <a:sym typeface="Tahoma"/>
            </a:endParaRPr>
          </a:p>
        </p:txBody>
      </p:sp>
      <p:sp>
        <p:nvSpPr>
          <p:cNvPr id="346" name="Google Shape;346;p14"/>
          <p:cNvSpPr txBox="1">
            <a:spLocks noGrp="1"/>
          </p:cNvSpPr>
          <p:nvPr>
            <p:ph type="subTitle" idx="1"/>
          </p:nvPr>
        </p:nvSpPr>
        <p:spPr>
          <a:xfrm>
            <a:off x="860425" y="1592143"/>
            <a:ext cx="10471150" cy="809625"/>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Funding Requirements</a:t>
            </a:r>
            <a:r>
              <a:rPr lang="en-US" sz="1800" b="0" i="0" u="none" strike="noStrike" cap="none" dirty="0">
                <a:solidFill>
                  <a:schemeClr val="dk1"/>
                </a:solidFill>
                <a:latin typeface="Arial"/>
                <a:ea typeface="Arial"/>
                <a:cs typeface="Arial"/>
                <a:sym typeface="Arial"/>
              </a:rPr>
              <a:t>: Specify how much funding you are seeking.</a:t>
            </a:r>
            <a:endParaRPr/>
          </a:p>
          <a:p>
            <a:pPr marL="0" marR="0" lvl="0" indent="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Use of Funds</a:t>
            </a:r>
            <a:r>
              <a:rPr lang="en-US" sz="1800" b="0" i="0" u="none" strike="noStrike" cap="none" dirty="0">
                <a:solidFill>
                  <a:schemeClr val="dk1"/>
                </a:solidFill>
                <a:latin typeface="Arial"/>
                <a:ea typeface="Arial"/>
                <a:cs typeface="Arial"/>
                <a:sym typeface="Arial"/>
              </a:rPr>
              <a:t>: Explain how you will allocate the capital (e.g., product development, marketing, hiring).</a:t>
            </a:r>
            <a:endParaRPr/>
          </a:p>
          <a:p>
            <a:pPr marL="0" marR="0" lvl="0" indent="0" algn="l"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Investment Terms</a:t>
            </a:r>
            <a:r>
              <a:rPr lang="en-US" sz="1800" b="0" i="0" u="none" strike="noStrike" cap="none" dirty="0">
                <a:solidFill>
                  <a:schemeClr val="dk1"/>
                </a:solidFill>
                <a:latin typeface="Arial"/>
                <a:ea typeface="Arial"/>
                <a:cs typeface="Arial"/>
                <a:sym typeface="Arial"/>
              </a:rPr>
              <a:t>: If applicable, outline the terms of the investment. </a:t>
            </a:r>
            <a:endParaRPr/>
          </a:p>
        </p:txBody>
      </p:sp>
      <p:pic>
        <p:nvPicPr>
          <p:cNvPr id="344" name="Google Shape;344;p14"/>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345" name="Google Shape;345;p14"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graphicFrame>
        <p:nvGraphicFramePr>
          <p:cNvPr id="6" name="Table 5"/>
          <p:cNvGraphicFramePr>
            <a:graphicFrameLocks noGrp="1"/>
          </p:cNvGraphicFramePr>
          <p:nvPr/>
        </p:nvGraphicFramePr>
        <p:xfrm>
          <a:off x="0" y="1129290"/>
          <a:ext cx="12192000" cy="59436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348567">
                <a:tc>
                  <a:txBody>
                    <a:bodyPr/>
                    <a:lstStyle/>
                    <a:p>
                      <a:r>
                        <a:rPr lang="en-US" b="1" dirty="0"/>
                        <a:t>Phase</a:t>
                      </a:r>
                      <a:endParaRPr lang="en-US" dirty="0"/>
                    </a:p>
                  </a:txBody>
                  <a:tcPr anchor="ctr"/>
                </a:tc>
                <a:tc>
                  <a:txBody>
                    <a:bodyPr/>
                    <a:lstStyle/>
                    <a:p>
                      <a:r>
                        <a:rPr lang="en-US" b="1"/>
                        <a:t>Budget Item</a:t>
                      </a:r>
                      <a:endParaRPr lang="en-US"/>
                    </a:p>
                  </a:txBody>
                  <a:tcPr anchor="ctr"/>
                </a:tc>
                <a:tc>
                  <a:txBody>
                    <a:bodyPr/>
                    <a:lstStyle/>
                    <a:p>
                      <a:r>
                        <a:rPr lang="en-US" b="1"/>
                        <a:t>Cost (₹)</a:t>
                      </a:r>
                      <a:endParaRPr lang="en-US"/>
                    </a:p>
                  </a:txBody>
                  <a:tcPr anchor="ctr"/>
                </a:tc>
                <a:tc>
                  <a:txBody>
                    <a:bodyPr/>
                    <a:lstStyle/>
                    <a:p>
                      <a:r>
                        <a:rPr lang="en-US" b="1" dirty="0"/>
                        <a:t>Justification</a:t>
                      </a:r>
                      <a:endParaRPr lang="en-US" dirty="0"/>
                    </a:p>
                  </a:txBody>
                  <a:tcPr anchor="ctr"/>
                </a:tc>
                <a:extLst>
                  <a:ext uri="{0D108BD9-81ED-4DB2-BD59-A6C34878D82A}">
                    <a16:rowId xmlns:a16="http://schemas.microsoft.com/office/drawing/2014/main" val="10000"/>
                  </a:ext>
                </a:extLst>
              </a:tr>
              <a:tr h="1032912">
                <a:tc>
                  <a:txBody>
                    <a:bodyPr/>
                    <a:lstStyle/>
                    <a:p>
                      <a:r>
                        <a:rPr lang="en-US" b="1" dirty="0"/>
                        <a:t>Phase 1: Market Research &amp; Validation</a:t>
                      </a:r>
                      <a:endParaRPr lang="en-US" dirty="0"/>
                    </a:p>
                  </a:txBody>
                  <a:tcPr anchor="ctr"/>
                </a:tc>
                <a:tc>
                  <a:txBody>
                    <a:bodyPr/>
                    <a:lstStyle/>
                    <a:p>
                      <a:r>
                        <a:rPr lang="en-US"/>
                        <a:t>Market Research</a:t>
                      </a:r>
                    </a:p>
                  </a:txBody>
                  <a:tcPr anchor="ctr"/>
                </a:tc>
                <a:tc>
                  <a:txBody>
                    <a:bodyPr/>
                    <a:lstStyle/>
                    <a:p>
                      <a:r>
                        <a:rPr lang="en-US"/>
                        <a:t>50,000</a:t>
                      </a:r>
                    </a:p>
                  </a:txBody>
                  <a:tcPr anchor="ctr"/>
                </a:tc>
                <a:tc>
                  <a:txBody>
                    <a:bodyPr/>
                    <a:lstStyle/>
                    <a:p>
                      <a:r>
                        <a:rPr lang="en-US" dirty="0"/>
                        <a:t>Funds for conducting surveys, focus groups, and competitive analysis to understand market needs.</a:t>
                      </a:r>
                    </a:p>
                  </a:txBody>
                  <a:tcPr anchor="ctr"/>
                </a:tc>
                <a:extLst>
                  <a:ext uri="{0D108BD9-81ED-4DB2-BD59-A6C34878D82A}">
                    <a16:rowId xmlns:a16="http://schemas.microsoft.com/office/drawing/2014/main" val="10001"/>
                  </a:ext>
                </a:extLst>
              </a:tr>
              <a:tr h="794548">
                <a:tc>
                  <a:txBody>
                    <a:bodyPr/>
                    <a:lstStyle/>
                    <a:p>
                      <a:endParaRPr lang="en-US" dirty="0"/>
                    </a:p>
                  </a:txBody>
                  <a:tcPr anchor="ctr"/>
                </a:tc>
                <a:tc>
                  <a:txBody>
                    <a:bodyPr/>
                    <a:lstStyle/>
                    <a:p>
                      <a:r>
                        <a:rPr lang="en-US" dirty="0"/>
                        <a:t>Problem Validation Report</a:t>
                      </a:r>
                    </a:p>
                  </a:txBody>
                  <a:tcPr anchor="ctr"/>
                </a:tc>
                <a:tc>
                  <a:txBody>
                    <a:bodyPr/>
                    <a:lstStyle/>
                    <a:p>
                      <a:r>
                        <a:rPr lang="en-US" dirty="0"/>
                        <a:t>20,000</a:t>
                      </a:r>
                    </a:p>
                  </a:txBody>
                  <a:tcPr anchor="ctr"/>
                </a:tc>
                <a:tc>
                  <a:txBody>
                    <a:bodyPr/>
                    <a:lstStyle/>
                    <a:p>
                      <a:r>
                        <a:rPr lang="en-US" dirty="0"/>
                        <a:t>Preparation of in-depth report on market gaps and validation of the problem statement.</a:t>
                      </a:r>
                    </a:p>
                  </a:txBody>
                  <a:tcPr anchor="ctr"/>
                </a:tc>
                <a:extLst>
                  <a:ext uri="{0D108BD9-81ED-4DB2-BD59-A6C34878D82A}">
                    <a16:rowId xmlns:a16="http://schemas.microsoft.com/office/drawing/2014/main" val="10002"/>
                  </a:ext>
                </a:extLst>
              </a:tr>
              <a:tr h="317819">
                <a:tc>
                  <a:txBody>
                    <a:bodyPr/>
                    <a:lstStyle/>
                    <a:p>
                      <a:r>
                        <a:rPr lang="en-US" b="1" dirty="0"/>
                        <a:t>Subtotal</a:t>
                      </a:r>
                      <a:endParaRPr lang="en-US" dirty="0"/>
                    </a:p>
                  </a:txBody>
                  <a:tcPr anchor="ctr"/>
                </a:tc>
                <a:tc>
                  <a:txBody>
                    <a:bodyPr/>
                    <a:lstStyle/>
                    <a:p>
                      <a:endParaRPr lang="en-US" dirty="0"/>
                    </a:p>
                  </a:txBody>
                  <a:tcPr/>
                </a:tc>
                <a:tc>
                  <a:txBody>
                    <a:bodyPr/>
                    <a:lstStyle/>
                    <a:p>
                      <a:r>
                        <a:rPr lang="en-US" b="1" dirty="0"/>
                        <a:t>70,000</a:t>
                      </a:r>
                      <a:endParaRPr lang="en-US" dirty="0"/>
                    </a:p>
                  </a:txBody>
                  <a:tcPr anchor="ctr"/>
                </a:tc>
                <a:tc>
                  <a:txBody>
                    <a:bodyPr/>
                    <a:lstStyle/>
                    <a:p>
                      <a:endParaRPr lang="en-US" dirty="0"/>
                    </a:p>
                  </a:txBody>
                  <a:tcPr/>
                </a:tc>
                <a:extLst>
                  <a:ext uri="{0D108BD9-81ED-4DB2-BD59-A6C34878D82A}">
                    <a16:rowId xmlns:a16="http://schemas.microsoft.com/office/drawing/2014/main" val="10003"/>
                  </a:ext>
                </a:extLst>
              </a:tr>
              <a:tr h="794548">
                <a:tc>
                  <a:txBody>
                    <a:bodyPr/>
                    <a:lstStyle/>
                    <a:p>
                      <a:r>
                        <a:rPr lang="en-US" b="1" dirty="0"/>
                        <a:t>Phase 2: Product Concept &amp; Prototype</a:t>
                      </a:r>
                      <a:endParaRPr lang="en-US" dirty="0"/>
                    </a:p>
                  </a:txBody>
                  <a:tcPr anchor="ctr"/>
                </a:tc>
                <a:tc>
                  <a:txBody>
                    <a:bodyPr/>
                    <a:lstStyle/>
                    <a:p>
                      <a:r>
                        <a:rPr lang="en-US"/>
                        <a:t>UI/UX Design</a:t>
                      </a:r>
                    </a:p>
                  </a:txBody>
                  <a:tcPr anchor="ctr"/>
                </a:tc>
                <a:tc>
                  <a:txBody>
                    <a:bodyPr/>
                    <a:lstStyle/>
                    <a:p>
                      <a:r>
                        <a:rPr lang="en-US"/>
                        <a:t>60,000</a:t>
                      </a:r>
                    </a:p>
                  </a:txBody>
                  <a:tcPr anchor="ctr"/>
                </a:tc>
                <a:tc>
                  <a:txBody>
                    <a:bodyPr/>
                    <a:lstStyle/>
                    <a:p>
                      <a:r>
                        <a:rPr lang="en-US"/>
                        <a:t>Engaging a designer to develop wireframes and initial interface concepts.</a:t>
                      </a:r>
                    </a:p>
                  </a:txBody>
                  <a:tcPr anchor="ctr"/>
                </a:tc>
                <a:extLst>
                  <a:ext uri="{0D108BD9-81ED-4DB2-BD59-A6C34878D82A}">
                    <a16:rowId xmlns:a16="http://schemas.microsoft.com/office/drawing/2014/main" val="10004"/>
                  </a:ext>
                </a:extLst>
              </a:tr>
              <a:tr h="794548">
                <a:tc>
                  <a:txBody>
                    <a:bodyPr/>
                    <a:lstStyle/>
                    <a:p>
                      <a:endParaRPr lang="en-US" dirty="0"/>
                    </a:p>
                  </a:txBody>
                  <a:tcPr anchor="ctr"/>
                </a:tc>
                <a:tc>
                  <a:txBody>
                    <a:bodyPr/>
                    <a:lstStyle/>
                    <a:p>
                      <a:r>
                        <a:rPr lang="en-US" dirty="0"/>
                        <a:t>Prototype Development</a:t>
                      </a:r>
                    </a:p>
                  </a:txBody>
                  <a:tcPr anchor="ctr"/>
                </a:tc>
                <a:tc>
                  <a:txBody>
                    <a:bodyPr/>
                    <a:lstStyle/>
                    <a:p>
                      <a:r>
                        <a:rPr lang="en-US"/>
                        <a:t>1,50,000</a:t>
                      </a:r>
                    </a:p>
                  </a:txBody>
                  <a:tcPr anchor="ctr"/>
                </a:tc>
                <a:tc>
                  <a:txBody>
                    <a:bodyPr/>
                    <a:lstStyle/>
                    <a:p>
                      <a:r>
                        <a:rPr lang="en-US"/>
                        <a:t>Basic app prototype with core features like traveler matching and cost estimation.</a:t>
                      </a:r>
                    </a:p>
                  </a:txBody>
                  <a:tcPr anchor="ctr"/>
                </a:tc>
                <a:extLst>
                  <a:ext uri="{0D108BD9-81ED-4DB2-BD59-A6C34878D82A}">
                    <a16:rowId xmlns:a16="http://schemas.microsoft.com/office/drawing/2014/main" val="10005"/>
                  </a:ext>
                </a:extLst>
              </a:tr>
              <a:tr h="794548">
                <a:tc>
                  <a:txBody>
                    <a:bodyPr/>
                    <a:lstStyle/>
                    <a:p>
                      <a:endParaRPr lang="en-US" dirty="0"/>
                    </a:p>
                  </a:txBody>
                  <a:tcPr anchor="ctr"/>
                </a:tc>
                <a:tc>
                  <a:txBody>
                    <a:bodyPr/>
                    <a:lstStyle/>
                    <a:p>
                      <a:r>
                        <a:rPr lang="en-US" dirty="0"/>
                        <a:t>Testing and User Journey Maps</a:t>
                      </a:r>
                    </a:p>
                  </a:txBody>
                  <a:tcPr anchor="ctr"/>
                </a:tc>
                <a:tc>
                  <a:txBody>
                    <a:bodyPr/>
                    <a:lstStyle/>
                    <a:p>
                      <a:r>
                        <a:rPr lang="en-US" dirty="0"/>
                        <a:t>30,000</a:t>
                      </a:r>
                    </a:p>
                  </a:txBody>
                  <a:tcPr anchor="ctr"/>
                </a:tc>
                <a:tc>
                  <a:txBody>
                    <a:bodyPr/>
                    <a:lstStyle/>
                    <a:p>
                      <a:r>
                        <a:rPr lang="en-US" dirty="0"/>
                        <a:t>Cost for initial user testing, refining journey maps, and collecting feedback.</a:t>
                      </a:r>
                    </a:p>
                  </a:txBody>
                  <a:tcPr anchor="ctr"/>
                </a:tc>
                <a:extLst>
                  <a:ext uri="{0D108BD9-81ED-4DB2-BD59-A6C34878D82A}">
                    <a16:rowId xmlns:a16="http://schemas.microsoft.com/office/drawing/2014/main" val="10006"/>
                  </a:ext>
                </a:extLst>
              </a:tr>
              <a:tr h="317819">
                <a:tc>
                  <a:txBody>
                    <a:bodyPr/>
                    <a:lstStyle/>
                    <a:p>
                      <a:r>
                        <a:rPr lang="en-US" b="1" dirty="0"/>
                        <a:t>Subtotal</a:t>
                      </a:r>
                      <a:endParaRPr lang="en-US" dirty="0"/>
                    </a:p>
                  </a:txBody>
                  <a:tcPr anchor="ctr"/>
                </a:tc>
                <a:tc>
                  <a:txBody>
                    <a:bodyPr/>
                    <a:lstStyle/>
                    <a:p>
                      <a:endParaRPr lang="en-US" dirty="0"/>
                    </a:p>
                  </a:txBody>
                  <a:tcPr anchor="ctr"/>
                </a:tc>
                <a:tc>
                  <a:txBody>
                    <a:bodyPr/>
                    <a:lstStyle/>
                    <a:p>
                      <a:r>
                        <a:rPr lang="en-US" dirty="0"/>
                        <a:t>2,40,000</a:t>
                      </a:r>
                    </a:p>
                  </a:txBody>
                  <a:tcPr anchor="ctr"/>
                </a:tc>
                <a:tc>
                  <a:txBody>
                    <a:bodyPr/>
                    <a:lstStyle/>
                    <a:p>
                      <a:endParaRPr lang="en-US" dirty="0"/>
                    </a:p>
                  </a:txBody>
                  <a:tcPr anchor="ct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pic>
        <p:nvPicPr>
          <p:cNvPr id="344" name="Google Shape;344;p14"/>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345" name="Google Shape;345;p14"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graphicFrame>
        <p:nvGraphicFramePr>
          <p:cNvPr id="6" name="Table 5"/>
          <p:cNvGraphicFramePr>
            <a:graphicFrameLocks noGrp="1"/>
          </p:cNvGraphicFramePr>
          <p:nvPr/>
        </p:nvGraphicFramePr>
        <p:xfrm>
          <a:off x="0" y="457201"/>
          <a:ext cx="12192000" cy="6400799"/>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679857">
                <a:tc>
                  <a:txBody>
                    <a:bodyPr/>
                    <a:lstStyle/>
                    <a:p>
                      <a:r>
                        <a:rPr lang="en-US" b="1" dirty="0"/>
                        <a:t>Phase</a:t>
                      </a:r>
                      <a:endParaRPr lang="en-US" dirty="0"/>
                    </a:p>
                  </a:txBody>
                  <a:tcPr anchor="ctr"/>
                </a:tc>
                <a:tc>
                  <a:txBody>
                    <a:bodyPr/>
                    <a:lstStyle/>
                    <a:p>
                      <a:r>
                        <a:rPr lang="en-US" b="1" dirty="0"/>
                        <a:t>Budget Item</a:t>
                      </a:r>
                      <a:endParaRPr lang="en-US" dirty="0"/>
                    </a:p>
                  </a:txBody>
                  <a:tcPr anchor="ctr"/>
                </a:tc>
                <a:tc>
                  <a:txBody>
                    <a:bodyPr/>
                    <a:lstStyle/>
                    <a:p>
                      <a:r>
                        <a:rPr lang="en-US" b="1" dirty="0"/>
                        <a:t>Cost (₹)</a:t>
                      </a:r>
                      <a:endParaRPr lang="en-US" dirty="0"/>
                    </a:p>
                  </a:txBody>
                  <a:tcPr anchor="ctr"/>
                </a:tc>
                <a:tc>
                  <a:txBody>
                    <a:bodyPr/>
                    <a:lstStyle/>
                    <a:p>
                      <a:r>
                        <a:rPr lang="en-US" b="1" dirty="0"/>
                        <a:t>Justification</a:t>
                      </a:r>
                      <a:endParaRPr lang="en-US" dirty="0"/>
                    </a:p>
                  </a:txBody>
                  <a:tcPr anchor="ctr"/>
                </a:tc>
                <a:extLst>
                  <a:ext uri="{0D108BD9-81ED-4DB2-BD59-A6C34878D82A}">
                    <a16:rowId xmlns:a16="http://schemas.microsoft.com/office/drawing/2014/main" val="10000"/>
                  </a:ext>
                </a:extLst>
              </a:tr>
              <a:tr h="799682">
                <a:tc>
                  <a:txBody>
                    <a:bodyPr/>
                    <a:lstStyle/>
                    <a:p>
                      <a:r>
                        <a:rPr lang="en-US" b="1"/>
                        <a:t>Phase 3: Testing, Iteration &amp; Patent</a:t>
                      </a:r>
                      <a:endParaRPr lang="en-US"/>
                    </a:p>
                  </a:txBody>
                  <a:tcPr anchor="ctr"/>
                </a:tc>
                <a:tc>
                  <a:txBody>
                    <a:bodyPr/>
                    <a:lstStyle/>
                    <a:p>
                      <a:r>
                        <a:rPr lang="en-US"/>
                        <a:t>User Testing</a:t>
                      </a:r>
                    </a:p>
                  </a:txBody>
                  <a:tcPr anchor="ctr"/>
                </a:tc>
                <a:tc>
                  <a:txBody>
                    <a:bodyPr/>
                    <a:lstStyle/>
                    <a:p>
                      <a:r>
                        <a:rPr lang="en-US"/>
                        <a:t>50,000</a:t>
                      </a:r>
                    </a:p>
                  </a:txBody>
                  <a:tcPr anchor="ctr"/>
                </a:tc>
                <a:tc>
                  <a:txBody>
                    <a:bodyPr/>
                    <a:lstStyle/>
                    <a:p>
                      <a:r>
                        <a:rPr lang="en-US" dirty="0"/>
                        <a:t>Conducting rigorous testing for bugs, usability, and performance.</a:t>
                      </a:r>
                    </a:p>
                  </a:txBody>
                  <a:tcPr anchor="ctr"/>
                </a:tc>
                <a:extLst>
                  <a:ext uri="{0D108BD9-81ED-4DB2-BD59-A6C34878D82A}">
                    <a16:rowId xmlns:a16="http://schemas.microsoft.com/office/drawing/2014/main" val="10001"/>
                  </a:ext>
                </a:extLst>
              </a:tr>
              <a:tr h="799682">
                <a:tc>
                  <a:txBody>
                    <a:bodyPr/>
                    <a:lstStyle/>
                    <a:p>
                      <a:endParaRPr lang="en-US" dirty="0"/>
                    </a:p>
                  </a:txBody>
                  <a:tcPr anchor="ctr"/>
                </a:tc>
                <a:tc>
                  <a:txBody>
                    <a:bodyPr/>
                    <a:lstStyle/>
                    <a:p>
                      <a:r>
                        <a:rPr lang="en-US"/>
                        <a:t>Patent Filing</a:t>
                      </a:r>
                    </a:p>
                  </a:txBody>
                  <a:tcPr anchor="ctr"/>
                </a:tc>
                <a:tc>
                  <a:txBody>
                    <a:bodyPr/>
                    <a:lstStyle/>
                    <a:p>
                      <a:r>
                        <a:rPr lang="en-US"/>
                        <a:t>80,000</a:t>
                      </a:r>
                    </a:p>
                  </a:txBody>
                  <a:tcPr anchor="ctr"/>
                </a:tc>
                <a:tc>
                  <a:txBody>
                    <a:bodyPr/>
                    <a:lstStyle/>
                    <a:p>
                      <a:r>
                        <a:rPr lang="en-US"/>
                        <a:t>Legal fees for filing patents to protect Dropizi’s unique features.</a:t>
                      </a:r>
                    </a:p>
                  </a:txBody>
                  <a:tcPr anchor="ctr"/>
                </a:tc>
                <a:extLst>
                  <a:ext uri="{0D108BD9-81ED-4DB2-BD59-A6C34878D82A}">
                    <a16:rowId xmlns:a16="http://schemas.microsoft.com/office/drawing/2014/main" val="10002"/>
                  </a:ext>
                </a:extLst>
              </a:tr>
              <a:tr h="799682">
                <a:tc>
                  <a:txBody>
                    <a:bodyPr/>
                    <a:lstStyle/>
                    <a:p>
                      <a:endParaRPr lang="en-US"/>
                    </a:p>
                  </a:txBody>
                  <a:tcPr anchor="ctr"/>
                </a:tc>
                <a:tc>
                  <a:txBody>
                    <a:bodyPr/>
                    <a:lstStyle/>
                    <a:p>
                      <a:r>
                        <a:rPr lang="en-US"/>
                        <a:t>Platform Iterations</a:t>
                      </a:r>
                    </a:p>
                  </a:txBody>
                  <a:tcPr anchor="ctr"/>
                </a:tc>
                <a:tc>
                  <a:txBody>
                    <a:bodyPr/>
                    <a:lstStyle/>
                    <a:p>
                      <a:r>
                        <a:rPr lang="en-US"/>
                        <a:t>1,00,000</a:t>
                      </a:r>
                    </a:p>
                  </a:txBody>
                  <a:tcPr anchor="ctr"/>
                </a:tc>
                <a:tc>
                  <a:txBody>
                    <a:bodyPr/>
                    <a:lstStyle/>
                    <a:p>
                      <a:r>
                        <a:rPr lang="en-US"/>
                        <a:t>Iterative development costs based on user feedback.</a:t>
                      </a:r>
                    </a:p>
                  </a:txBody>
                  <a:tcPr anchor="ctr"/>
                </a:tc>
                <a:extLst>
                  <a:ext uri="{0D108BD9-81ED-4DB2-BD59-A6C34878D82A}">
                    <a16:rowId xmlns:a16="http://schemas.microsoft.com/office/drawing/2014/main" val="10003"/>
                  </a:ext>
                </a:extLst>
              </a:tr>
              <a:tr h="379645">
                <a:tc>
                  <a:txBody>
                    <a:bodyPr/>
                    <a:lstStyle/>
                    <a:p>
                      <a:r>
                        <a:rPr lang="en-US" b="1" dirty="0"/>
                        <a:t>Subtotal</a:t>
                      </a:r>
                      <a:endParaRPr lang="en-US" dirty="0"/>
                    </a:p>
                  </a:txBody>
                  <a:tcPr anchor="ctr"/>
                </a:tc>
                <a:tc>
                  <a:txBody>
                    <a:bodyPr/>
                    <a:lstStyle/>
                    <a:p>
                      <a:endParaRPr lang="en-US" dirty="0"/>
                    </a:p>
                  </a:txBody>
                  <a:tcPr anchor="ctr"/>
                </a:tc>
                <a:tc>
                  <a:txBody>
                    <a:bodyPr/>
                    <a:lstStyle/>
                    <a:p>
                      <a:r>
                        <a:rPr lang="en-US" dirty="0"/>
                        <a:t>2,30,000</a:t>
                      </a:r>
                    </a:p>
                  </a:txBody>
                  <a:tcPr anchor="ctr"/>
                </a:tc>
                <a:tc>
                  <a:txBody>
                    <a:bodyPr/>
                    <a:lstStyle/>
                    <a:p>
                      <a:endParaRPr lang="en-US" dirty="0"/>
                    </a:p>
                  </a:txBody>
                  <a:tcPr anchor="ctr"/>
                </a:tc>
                <a:extLst>
                  <a:ext uri="{0D108BD9-81ED-4DB2-BD59-A6C34878D82A}">
                    <a16:rowId xmlns:a16="http://schemas.microsoft.com/office/drawing/2014/main" val="10004"/>
                  </a:ext>
                </a:extLst>
              </a:tr>
              <a:tr h="1233848">
                <a:tc>
                  <a:txBody>
                    <a:bodyPr/>
                    <a:lstStyle/>
                    <a:p>
                      <a:r>
                        <a:rPr lang="en-US" b="1"/>
                        <a:t>Phase 4: Pilot Launch</a:t>
                      </a:r>
                      <a:endParaRPr lang="en-US"/>
                    </a:p>
                  </a:txBody>
                  <a:tcPr anchor="ctr"/>
                </a:tc>
                <a:tc>
                  <a:txBody>
                    <a:bodyPr/>
                    <a:lstStyle/>
                    <a:p>
                      <a:r>
                        <a:rPr lang="en-US"/>
                        <a:t>Marketing &amp; Outreach</a:t>
                      </a:r>
                    </a:p>
                  </a:txBody>
                  <a:tcPr anchor="ctr"/>
                </a:tc>
                <a:tc>
                  <a:txBody>
                    <a:bodyPr/>
                    <a:lstStyle/>
                    <a:p>
                      <a:r>
                        <a:rPr lang="en-US"/>
                        <a:t>1,00,000</a:t>
                      </a:r>
                    </a:p>
                  </a:txBody>
                  <a:tcPr anchor="ctr"/>
                </a:tc>
                <a:tc>
                  <a:txBody>
                    <a:bodyPr/>
                    <a:lstStyle/>
                    <a:p>
                      <a:r>
                        <a:rPr lang="en-US" dirty="0"/>
                        <a:t>Advertising and promotional campaigns in pilot cities to build brand awareness and attract early users.</a:t>
                      </a:r>
                    </a:p>
                  </a:txBody>
                  <a:tcPr anchor="ctr"/>
                </a:tc>
                <a:extLst>
                  <a:ext uri="{0D108BD9-81ED-4DB2-BD59-A6C34878D82A}">
                    <a16:rowId xmlns:a16="http://schemas.microsoft.com/office/drawing/2014/main" val="10005"/>
                  </a:ext>
                </a:extLst>
              </a:tr>
              <a:tr h="664379">
                <a:tc>
                  <a:txBody>
                    <a:bodyPr/>
                    <a:lstStyle/>
                    <a:p>
                      <a:endParaRPr lang="en-US" dirty="0"/>
                    </a:p>
                  </a:txBody>
                  <a:tcPr anchor="ctr"/>
                </a:tc>
                <a:tc>
                  <a:txBody>
                    <a:bodyPr/>
                    <a:lstStyle/>
                    <a:p>
                      <a:r>
                        <a:rPr lang="en-US"/>
                        <a:t>Hub Partnerships</a:t>
                      </a:r>
                    </a:p>
                  </a:txBody>
                  <a:tcPr anchor="ctr"/>
                </a:tc>
                <a:tc>
                  <a:txBody>
                    <a:bodyPr/>
                    <a:lstStyle/>
                    <a:p>
                      <a:r>
                        <a:rPr lang="en-US"/>
                        <a:t>50,000</a:t>
                      </a:r>
                    </a:p>
                  </a:txBody>
                  <a:tcPr anchor="ctr"/>
                </a:tc>
                <a:tc>
                  <a:txBody>
                    <a:bodyPr/>
                    <a:lstStyle/>
                    <a:p>
                      <a:r>
                        <a:rPr lang="en-US"/>
                        <a:t>Engaging with and onboarding local hub partners in pilot areas.</a:t>
                      </a:r>
                    </a:p>
                  </a:txBody>
                  <a:tcPr anchor="ctr"/>
                </a:tc>
                <a:extLst>
                  <a:ext uri="{0D108BD9-81ED-4DB2-BD59-A6C34878D82A}">
                    <a16:rowId xmlns:a16="http://schemas.microsoft.com/office/drawing/2014/main" val="10006"/>
                  </a:ext>
                </a:extLst>
              </a:tr>
              <a:tr h="664379">
                <a:tc>
                  <a:txBody>
                    <a:bodyPr/>
                    <a:lstStyle/>
                    <a:p>
                      <a:endParaRPr lang="en-US" dirty="0"/>
                    </a:p>
                  </a:txBody>
                  <a:tcPr anchor="ctr"/>
                </a:tc>
                <a:tc>
                  <a:txBody>
                    <a:bodyPr/>
                    <a:lstStyle/>
                    <a:p>
                      <a:r>
                        <a:rPr lang="en-US"/>
                        <a:t>Data Analytics</a:t>
                      </a:r>
                    </a:p>
                  </a:txBody>
                  <a:tcPr anchor="ctr"/>
                </a:tc>
                <a:tc>
                  <a:txBody>
                    <a:bodyPr/>
                    <a:lstStyle/>
                    <a:p>
                      <a:r>
                        <a:rPr lang="en-US" dirty="0"/>
                        <a:t>40,000</a:t>
                      </a:r>
                    </a:p>
                  </a:txBody>
                  <a:tcPr anchor="ctr"/>
                </a:tc>
                <a:tc>
                  <a:txBody>
                    <a:bodyPr/>
                    <a:lstStyle/>
                    <a:p>
                      <a:r>
                        <a:rPr lang="en-US" dirty="0"/>
                        <a:t>Tracking metrics like delivery times, costs, and satisfaction.</a:t>
                      </a:r>
                    </a:p>
                  </a:txBody>
                  <a:tcPr anchor="ctr"/>
                </a:tc>
                <a:extLst>
                  <a:ext uri="{0D108BD9-81ED-4DB2-BD59-A6C34878D82A}">
                    <a16:rowId xmlns:a16="http://schemas.microsoft.com/office/drawing/2014/main" val="10007"/>
                  </a:ext>
                </a:extLst>
              </a:tr>
              <a:tr h="379645">
                <a:tc>
                  <a:txBody>
                    <a:bodyPr/>
                    <a:lstStyle/>
                    <a:p>
                      <a:r>
                        <a:rPr lang="en-US" b="1" dirty="0"/>
                        <a:t>Subtotal</a:t>
                      </a:r>
                      <a:endParaRPr lang="en-US" dirty="0"/>
                    </a:p>
                  </a:txBody>
                  <a:tcPr anchor="ctr"/>
                </a:tc>
                <a:tc>
                  <a:txBody>
                    <a:bodyPr/>
                    <a:lstStyle/>
                    <a:p>
                      <a:endParaRPr lang="en-US" dirty="0"/>
                    </a:p>
                  </a:txBody>
                  <a:tcPr anchor="ctr"/>
                </a:tc>
                <a:tc>
                  <a:txBody>
                    <a:bodyPr/>
                    <a:lstStyle/>
                    <a:p>
                      <a:r>
                        <a:rPr lang="en-US" dirty="0"/>
                        <a:t>1,90,000</a:t>
                      </a:r>
                    </a:p>
                  </a:txBody>
                  <a:tcPr anchor="ctr"/>
                </a:tc>
                <a:tc>
                  <a:txBody>
                    <a:bodyPr/>
                    <a:lstStyle/>
                    <a:p>
                      <a:endParaRPr lang="en-US" dirty="0"/>
                    </a:p>
                  </a:txBody>
                  <a:tcPr anchor="ctr"/>
                </a:tc>
                <a:extLst>
                  <a:ext uri="{0D108BD9-81ED-4DB2-BD59-A6C34878D82A}">
                    <a16:rowId xmlns:a16="http://schemas.microsoft.com/office/drawing/2014/main" val="10008"/>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pic>
        <p:nvPicPr>
          <p:cNvPr id="344" name="Google Shape;344;p14"/>
          <p:cNvPicPr preferRelativeResize="0"/>
          <p:nvPr/>
        </p:nvPicPr>
        <p:blipFill rotWithShape="1">
          <a:blip r:embed="rId3">
            <a:alphaModFix/>
          </a:blip>
          <a:srcRect/>
          <a:stretch/>
        </p:blipFill>
        <p:spPr>
          <a:xfrm>
            <a:off x="59619" y="69386"/>
            <a:ext cx="1388397" cy="1236185"/>
          </a:xfrm>
          <a:prstGeom prst="rect">
            <a:avLst/>
          </a:prstGeom>
          <a:noFill/>
          <a:ln>
            <a:noFill/>
          </a:ln>
        </p:spPr>
      </p:pic>
      <p:graphicFrame>
        <p:nvGraphicFramePr>
          <p:cNvPr id="6" name="Table 5"/>
          <p:cNvGraphicFramePr>
            <a:graphicFrameLocks noGrp="1"/>
          </p:cNvGraphicFramePr>
          <p:nvPr/>
        </p:nvGraphicFramePr>
        <p:xfrm>
          <a:off x="76200" y="76200"/>
          <a:ext cx="12039600" cy="6710680"/>
        </p:xfrm>
        <a:graphic>
          <a:graphicData uri="http://schemas.openxmlformats.org/drawingml/2006/table">
            <a:tbl>
              <a:tblPr firstRow="1" bandRow="1">
                <a:tableStyleId>{5C22544A-7EE6-4342-B048-85BDC9FD1C3A}</a:tableStyleId>
              </a:tblPr>
              <a:tblGrid>
                <a:gridCol w="3009900">
                  <a:extLst>
                    <a:ext uri="{9D8B030D-6E8A-4147-A177-3AD203B41FA5}">
                      <a16:colId xmlns:a16="http://schemas.microsoft.com/office/drawing/2014/main" val="20000"/>
                    </a:ext>
                  </a:extLst>
                </a:gridCol>
                <a:gridCol w="3009900">
                  <a:extLst>
                    <a:ext uri="{9D8B030D-6E8A-4147-A177-3AD203B41FA5}">
                      <a16:colId xmlns:a16="http://schemas.microsoft.com/office/drawing/2014/main" val="20001"/>
                    </a:ext>
                  </a:extLst>
                </a:gridCol>
                <a:gridCol w="3009900">
                  <a:extLst>
                    <a:ext uri="{9D8B030D-6E8A-4147-A177-3AD203B41FA5}">
                      <a16:colId xmlns:a16="http://schemas.microsoft.com/office/drawing/2014/main" val="20002"/>
                    </a:ext>
                  </a:extLst>
                </a:gridCol>
                <a:gridCol w="3009900">
                  <a:extLst>
                    <a:ext uri="{9D8B030D-6E8A-4147-A177-3AD203B41FA5}">
                      <a16:colId xmlns:a16="http://schemas.microsoft.com/office/drawing/2014/main" val="20003"/>
                    </a:ext>
                  </a:extLst>
                </a:gridCol>
              </a:tblGrid>
              <a:tr h="223520">
                <a:tc>
                  <a:txBody>
                    <a:bodyPr/>
                    <a:lstStyle/>
                    <a:p>
                      <a:r>
                        <a:rPr lang="en-US" b="1" dirty="0"/>
                        <a:t>Phase</a:t>
                      </a:r>
                      <a:endParaRPr lang="en-US" dirty="0"/>
                    </a:p>
                  </a:txBody>
                  <a:tcPr anchor="ctr"/>
                </a:tc>
                <a:tc>
                  <a:txBody>
                    <a:bodyPr/>
                    <a:lstStyle/>
                    <a:p>
                      <a:r>
                        <a:rPr lang="en-US" b="1" dirty="0"/>
                        <a:t>Budget Item</a:t>
                      </a:r>
                      <a:endParaRPr lang="en-US" dirty="0"/>
                    </a:p>
                  </a:txBody>
                  <a:tcPr anchor="ctr"/>
                </a:tc>
                <a:tc>
                  <a:txBody>
                    <a:bodyPr/>
                    <a:lstStyle/>
                    <a:p>
                      <a:r>
                        <a:rPr lang="en-US" b="1"/>
                        <a:t>Cost (₹)</a:t>
                      </a:r>
                      <a:endParaRPr lang="en-US"/>
                    </a:p>
                  </a:txBody>
                  <a:tcPr anchor="ctr"/>
                </a:tc>
                <a:tc>
                  <a:txBody>
                    <a:bodyPr/>
                    <a:lstStyle/>
                    <a:p>
                      <a:r>
                        <a:rPr lang="en-US" b="1" dirty="0"/>
                        <a:t>Justification</a:t>
                      </a:r>
                      <a:endParaRPr lang="en-US" dirty="0"/>
                    </a:p>
                  </a:txBody>
                  <a:tcPr anchor="ctr"/>
                </a:tc>
                <a:extLst>
                  <a:ext uri="{0D108BD9-81ED-4DB2-BD59-A6C34878D82A}">
                    <a16:rowId xmlns:a16="http://schemas.microsoft.com/office/drawing/2014/main" val="10000"/>
                  </a:ext>
                </a:extLst>
              </a:tr>
              <a:tr h="894080">
                <a:tc>
                  <a:txBody>
                    <a:bodyPr/>
                    <a:lstStyle/>
                    <a:p>
                      <a:r>
                        <a:rPr lang="en-US" b="1" dirty="0"/>
                        <a:t>Phase 5: Full-Scale Development</a:t>
                      </a:r>
                      <a:endParaRPr lang="en-US" dirty="0"/>
                    </a:p>
                  </a:txBody>
                  <a:tcPr anchor="ctr"/>
                </a:tc>
                <a:tc>
                  <a:txBody>
                    <a:bodyPr/>
                    <a:lstStyle/>
                    <a:p>
                      <a:r>
                        <a:rPr lang="en-US" dirty="0"/>
                        <a:t>Feature Expansion</a:t>
                      </a:r>
                    </a:p>
                  </a:txBody>
                  <a:tcPr anchor="ctr"/>
                </a:tc>
                <a:tc>
                  <a:txBody>
                    <a:bodyPr/>
                    <a:lstStyle/>
                    <a:p>
                      <a:r>
                        <a:rPr lang="en-US" dirty="0"/>
                        <a:t>1,20,000</a:t>
                      </a:r>
                    </a:p>
                  </a:txBody>
                  <a:tcPr anchor="ctr"/>
                </a:tc>
                <a:tc>
                  <a:txBody>
                    <a:bodyPr/>
                    <a:lstStyle/>
                    <a:p>
                      <a:r>
                        <a:rPr lang="en-US"/>
                        <a:t>Adding insurance options, enhanced tracking, and backend scalability features.</a:t>
                      </a:r>
                    </a:p>
                  </a:txBody>
                  <a:tcPr anchor="ctr"/>
                </a:tc>
                <a:extLst>
                  <a:ext uri="{0D108BD9-81ED-4DB2-BD59-A6C34878D82A}">
                    <a16:rowId xmlns:a16="http://schemas.microsoft.com/office/drawing/2014/main" val="10001"/>
                  </a:ext>
                </a:extLst>
              </a:tr>
              <a:tr h="726440">
                <a:tc>
                  <a:txBody>
                    <a:bodyPr/>
                    <a:lstStyle/>
                    <a:p>
                      <a:endParaRPr lang="en-US" dirty="0"/>
                    </a:p>
                  </a:txBody>
                  <a:tcPr anchor="ctr"/>
                </a:tc>
                <a:tc>
                  <a:txBody>
                    <a:bodyPr/>
                    <a:lstStyle/>
                    <a:p>
                      <a:r>
                        <a:rPr lang="en-US" dirty="0"/>
                        <a:t>Backend &amp; Infrastructure Scaling</a:t>
                      </a:r>
                    </a:p>
                  </a:txBody>
                  <a:tcPr anchor="ctr"/>
                </a:tc>
                <a:tc>
                  <a:txBody>
                    <a:bodyPr/>
                    <a:lstStyle/>
                    <a:p>
                      <a:r>
                        <a:rPr lang="en-US" dirty="0"/>
                        <a:t>2,00,000</a:t>
                      </a:r>
                    </a:p>
                  </a:txBody>
                  <a:tcPr anchor="ctr"/>
                </a:tc>
                <a:tc>
                  <a:txBody>
                    <a:bodyPr/>
                    <a:lstStyle/>
                    <a:p>
                      <a:r>
                        <a:rPr lang="en-US" dirty="0"/>
                        <a:t>Ensuring app stability, security, and performance as user base grows.</a:t>
                      </a:r>
                    </a:p>
                  </a:txBody>
                  <a:tcPr anchor="ctr"/>
                </a:tc>
                <a:extLst>
                  <a:ext uri="{0D108BD9-81ED-4DB2-BD59-A6C34878D82A}">
                    <a16:rowId xmlns:a16="http://schemas.microsoft.com/office/drawing/2014/main" val="10002"/>
                  </a:ext>
                </a:extLst>
              </a:tr>
              <a:tr h="726440">
                <a:tc>
                  <a:txBody>
                    <a:bodyPr/>
                    <a:lstStyle/>
                    <a:p>
                      <a:endParaRPr lang="en-US" dirty="0"/>
                    </a:p>
                  </a:txBody>
                  <a:tcPr anchor="ctr"/>
                </a:tc>
                <a:tc>
                  <a:txBody>
                    <a:bodyPr/>
                    <a:lstStyle/>
                    <a:p>
                      <a:r>
                        <a:rPr lang="en-US" dirty="0"/>
                        <a:t>Comprehensive System Testing</a:t>
                      </a:r>
                    </a:p>
                  </a:txBody>
                  <a:tcPr anchor="ctr"/>
                </a:tc>
                <a:tc>
                  <a:txBody>
                    <a:bodyPr/>
                    <a:lstStyle/>
                    <a:p>
                      <a:r>
                        <a:rPr lang="en-US"/>
                        <a:t>1,00,000</a:t>
                      </a:r>
                    </a:p>
                  </a:txBody>
                  <a:tcPr anchor="ctr"/>
                </a:tc>
                <a:tc>
                  <a:txBody>
                    <a:bodyPr/>
                    <a:lstStyle/>
                    <a:p>
                      <a:r>
                        <a:rPr lang="en-US" dirty="0"/>
                        <a:t>Full testing to ensure robustness and reliability before commercial launch.</a:t>
                      </a:r>
                    </a:p>
                  </a:txBody>
                  <a:tcPr anchor="ctr"/>
                </a:tc>
                <a:extLst>
                  <a:ext uri="{0D108BD9-81ED-4DB2-BD59-A6C34878D82A}">
                    <a16:rowId xmlns:a16="http://schemas.microsoft.com/office/drawing/2014/main" val="10003"/>
                  </a:ext>
                </a:extLst>
              </a:tr>
              <a:tr h="223520">
                <a:tc>
                  <a:txBody>
                    <a:bodyPr/>
                    <a:lstStyle/>
                    <a:p>
                      <a:r>
                        <a:rPr lang="en-US" b="1" dirty="0"/>
                        <a:t>Subtotal</a:t>
                      </a:r>
                      <a:endParaRPr lang="en-US" dirty="0"/>
                    </a:p>
                  </a:txBody>
                  <a:tcPr anchor="ctr"/>
                </a:tc>
                <a:tc>
                  <a:txBody>
                    <a:bodyPr/>
                    <a:lstStyle/>
                    <a:p>
                      <a:endParaRPr lang="en-US" dirty="0"/>
                    </a:p>
                  </a:txBody>
                  <a:tcPr anchor="ctr"/>
                </a:tc>
                <a:tc>
                  <a:txBody>
                    <a:bodyPr/>
                    <a:lstStyle/>
                    <a:p>
                      <a:r>
                        <a:rPr lang="en-US" dirty="0"/>
                        <a:t>4,20,000</a:t>
                      </a:r>
                    </a:p>
                  </a:txBody>
                  <a:tcPr anchor="ctr"/>
                </a:tc>
                <a:tc>
                  <a:txBody>
                    <a:bodyPr/>
                    <a:lstStyle/>
                    <a:p>
                      <a:endParaRPr lang="en-US" dirty="0"/>
                    </a:p>
                  </a:txBody>
                  <a:tcPr anchor="ctr"/>
                </a:tc>
                <a:extLst>
                  <a:ext uri="{0D108BD9-81ED-4DB2-BD59-A6C34878D82A}">
                    <a16:rowId xmlns:a16="http://schemas.microsoft.com/office/drawing/2014/main" val="10004"/>
                  </a:ext>
                </a:extLst>
              </a:tr>
              <a:tr h="1061720">
                <a:tc>
                  <a:txBody>
                    <a:bodyPr/>
                    <a:lstStyle/>
                    <a:p>
                      <a:r>
                        <a:rPr lang="en-US" b="1"/>
                        <a:t>Phase 6: Go-to-Market (GtM)</a:t>
                      </a:r>
                      <a:endParaRPr lang="en-US"/>
                    </a:p>
                  </a:txBody>
                  <a:tcPr anchor="ctr"/>
                </a:tc>
                <a:tc>
                  <a:txBody>
                    <a:bodyPr/>
                    <a:lstStyle/>
                    <a:p>
                      <a:r>
                        <a:rPr lang="en-US"/>
                        <a:t>Branding &amp; Digital Marketing</a:t>
                      </a:r>
                    </a:p>
                  </a:txBody>
                  <a:tcPr anchor="ctr"/>
                </a:tc>
                <a:tc>
                  <a:txBody>
                    <a:bodyPr/>
                    <a:lstStyle/>
                    <a:p>
                      <a:r>
                        <a:rPr lang="en-US"/>
                        <a:t>1,50,000</a:t>
                      </a:r>
                    </a:p>
                  </a:txBody>
                  <a:tcPr anchor="ctr"/>
                </a:tc>
                <a:tc>
                  <a:txBody>
                    <a:bodyPr/>
                    <a:lstStyle/>
                    <a:p>
                      <a:r>
                        <a:rPr lang="en-US"/>
                        <a:t>Finalizing brand assets, executing targeted digital campaigns, and influencer marketing.</a:t>
                      </a:r>
                    </a:p>
                  </a:txBody>
                  <a:tcPr anchor="ctr"/>
                </a:tc>
                <a:extLst>
                  <a:ext uri="{0D108BD9-81ED-4DB2-BD59-A6C34878D82A}">
                    <a16:rowId xmlns:a16="http://schemas.microsoft.com/office/drawing/2014/main" val="10005"/>
                  </a:ext>
                </a:extLst>
              </a:tr>
              <a:tr h="894080">
                <a:tc>
                  <a:txBody>
                    <a:bodyPr/>
                    <a:lstStyle/>
                    <a:p>
                      <a:endParaRPr lang="en-US" dirty="0"/>
                    </a:p>
                  </a:txBody>
                  <a:tcPr anchor="ctr"/>
                </a:tc>
                <a:tc>
                  <a:txBody>
                    <a:bodyPr/>
                    <a:lstStyle/>
                    <a:p>
                      <a:r>
                        <a:rPr lang="en-US"/>
                        <a:t>Partnership Outreach</a:t>
                      </a:r>
                    </a:p>
                  </a:txBody>
                  <a:tcPr anchor="ctr"/>
                </a:tc>
                <a:tc>
                  <a:txBody>
                    <a:bodyPr/>
                    <a:lstStyle/>
                    <a:p>
                      <a:r>
                        <a:rPr lang="en-US"/>
                        <a:t>80,000</a:t>
                      </a:r>
                    </a:p>
                  </a:txBody>
                  <a:tcPr anchor="ctr"/>
                </a:tc>
                <a:tc>
                  <a:txBody>
                    <a:bodyPr/>
                    <a:lstStyle/>
                    <a:p>
                      <a:r>
                        <a:rPr lang="en-US"/>
                        <a:t>Building relationships with SMEs and local businesses for initial traction.</a:t>
                      </a:r>
                    </a:p>
                  </a:txBody>
                  <a:tcPr anchor="ctr"/>
                </a:tc>
                <a:extLst>
                  <a:ext uri="{0D108BD9-81ED-4DB2-BD59-A6C34878D82A}">
                    <a16:rowId xmlns:a16="http://schemas.microsoft.com/office/drawing/2014/main" val="10006"/>
                  </a:ext>
                </a:extLst>
              </a:tr>
              <a:tr h="894080">
                <a:tc>
                  <a:txBody>
                    <a:bodyPr/>
                    <a:lstStyle/>
                    <a:p>
                      <a:endParaRPr lang="en-US" dirty="0"/>
                    </a:p>
                  </a:txBody>
                  <a:tcPr anchor="ctr"/>
                </a:tc>
                <a:tc>
                  <a:txBody>
                    <a:bodyPr/>
                    <a:lstStyle/>
                    <a:p>
                      <a:r>
                        <a:rPr lang="en-US"/>
                        <a:t>Customer Support &amp; Onboarding</a:t>
                      </a:r>
                    </a:p>
                  </a:txBody>
                  <a:tcPr anchor="ctr"/>
                </a:tc>
                <a:tc>
                  <a:txBody>
                    <a:bodyPr/>
                    <a:lstStyle/>
                    <a:p>
                      <a:r>
                        <a:rPr lang="en-US"/>
                        <a:t>60,000</a:t>
                      </a:r>
                    </a:p>
                  </a:txBody>
                  <a:tcPr anchor="ctr"/>
                </a:tc>
                <a:tc>
                  <a:txBody>
                    <a:bodyPr/>
                    <a:lstStyle/>
                    <a:p>
                      <a:r>
                        <a:rPr lang="en-US"/>
                        <a:t>Costs for initial customer support setup and onboarding materials.</a:t>
                      </a:r>
                    </a:p>
                  </a:txBody>
                  <a:tcPr anchor="ctr"/>
                </a:tc>
                <a:extLst>
                  <a:ext uri="{0D108BD9-81ED-4DB2-BD59-A6C34878D82A}">
                    <a16:rowId xmlns:a16="http://schemas.microsoft.com/office/drawing/2014/main" val="10007"/>
                  </a:ext>
                </a:extLst>
              </a:tr>
              <a:tr h="223520">
                <a:tc>
                  <a:txBody>
                    <a:bodyPr/>
                    <a:lstStyle/>
                    <a:p>
                      <a:r>
                        <a:rPr lang="en-US" b="1" dirty="0"/>
                        <a:t>Subtotal</a:t>
                      </a:r>
                      <a:endParaRPr lang="en-US" dirty="0"/>
                    </a:p>
                  </a:txBody>
                  <a:tcPr anchor="ctr"/>
                </a:tc>
                <a:tc>
                  <a:txBody>
                    <a:bodyPr/>
                    <a:lstStyle/>
                    <a:p>
                      <a:endParaRPr lang="en-US" dirty="0"/>
                    </a:p>
                  </a:txBody>
                  <a:tcPr anchor="ctr"/>
                </a:tc>
                <a:tc>
                  <a:txBody>
                    <a:bodyPr/>
                    <a:lstStyle/>
                    <a:p>
                      <a:r>
                        <a:rPr lang="en-US" dirty="0"/>
                        <a:t>2,90,000</a:t>
                      </a:r>
                    </a:p>
                  </a:txBody>
                  <a:tcPr anchor="ctr"/>
                </a:tc>
                <a:tc>
                  <a:txBody>
                    <a:bodyPr/>
                    <a:lstStyle/>
                    <a:p>
                      <a:endParaRPr lang="en-US" dirty="0"/>
                    </a:p>
                  </a:txBody>
                  <a:tcPr anchor="ctr"/>
                </a:tc>
                <a:extLst>
                  <a:ext uri="{0D108BD9-81ED-4DB2-BD59-A6C34878D82A}">
                    <a16:rowId xmlns:a16="http://schemas.microsoft.com/office/drawing/2014/main" val="10008"/>
                  </a:ext>
                </a:extLst>
              </a:tr>
            </a:tbl>
          </a:graphicData>
        </a:graphic>
      </p:graphicFrame>
      <p:pic>
        <p:nvPicPr>
          <p:cNvPr id="345" name="Google Shape;345;p14"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pic>
        <p:nvPicPr>
          <p:cNvPr id="344" name="Google Shape;344;p14"/>
          <p:cNvPicPr preferRelativeResize="0"/>
          <p:nvPr/>
        </p:nvPicPr>
        <p:blipFill rotWithShape="1">
          <a:blip r:embed="rId3">
            <a:alphaModFix/>
          </a:blip>
          <a:srcRect/>
          <a:stretch/>
        </p:blipFill>
        <p:spPr>
          <a:xfrm>
            <a:off x="59619" y="69386"/>
            <a:ext cx="1388397" cy="1236185"/>
          </a:xfrm>
          <a:prstGeom prst="rect">
            <a:avLst/>
          </a:prstGeom>
          <a:noFill/>
          <a:ln>
            <a:noFill/>
          </a:ln>
        </p:spPr>
      </p:pic>
      <p:pic>
        <p:nvPicPr>
          <p:cNvPr id="345" name="Google Shape;345;p14" descr="A logo with a head and lines and dots&#10;&#10;Description automatically generated"/>
          <p:cNvPicPr preferRelativeResize="0"/>
          <p:nvPr/>
        </p:nvPicPr>
        <p:blipFill rotWithShape="1">
          <a:blip r:embed="rId4">
            <a:alphaModFix/>
          </a:blip>
          <a:srcRect/>
          <a:stretch/>
        </p:blipFill>
        <p:spPr>
          <a:xfrm>
            <a:off x="10829006" y="287454"/>
            <a:ext cx="1170024" cy="757336"/>
          </a:xfrm>
          <a:prstGeom prst="rect">
            <a:avLst/>
          </a:prstGeom>
          <a:noFill/>
          <a:ln>
            <a:noFill/>
          </a:ln>
        </p:spPr>
      </p:pic>
      <p:graphicFrame>
        <p:nvGraphicFramePr>
          <p:cNvPr id="9" name="Table 8"/>
          <p:cNvGraphicFramePr>
            <a:graphicFrameLocks noGrp="1"/>
          </p:cNvGraphicFramePr>
          <p:nvPr/>
        </p:nvGraphicFramePr>
        <p:xfrm>
          <a:off x="76200" y="76200"/>
          <a:ext cx="12039600" cy="4876800"/>
        </p:xfrm>
        <a:graphic>
          <a:graphicData uri="http://schemas.openxmlformats.org/drawingml/2006/table">
            <a:tbl>
              <a:tblPr firstRow="1" bandRow="1">
                <a:tableStyleId>{5C22544A-7EE6-4342-B048-85BDC9FD1C3A}</a:tableStyleId>
              </a:tblPr>
              <a:tblGrid>
                <a:gridCol w="3009900">
                  <a:extLst>
                    <a:ext uri="{9D8B030D-6E8A-4147-A177-3AD203B41FA5}">
                      <a16:colId xmlns:a16="http://schemas.microsoft.com/office/drawing/2014/main" val="20000"/>
                    </a:ext>
                  </a:extLst>
                </a:gridCol>
                <a:gridCol w="3009900">
                  <a:extLst>
                    <a:ext uri="{9D8B030D-6E8A-4147-A177-3AD203B41FA5}">
                      <a16:colId xmlns:a16="http://schemas.microsoft.com/office/drawing/2014/main" val="20001"/>
                    </a:ext>
                  </a:extLst>
                </a:gridCol>
                <a:gridCol w="3009900">
                  <a:extLst>
                    <a:ext uri="{9D8B030D-6E8A-4147-A177-3AD203B41FA5}">
                      <a16:colId xmlns:a16="http://schemas.microsoft.com/office/drawing/2014/main" val="20002"/>
                    </a:ext>
                  </a:extLst>
                </a:gridCol>
                <a:gridCol w="3009900">
                  <a:extLst>
                    <a:ext uri="{9D8B030D-6E8A-4147-A177-3AD203B41FA5}">
                      <a16:colId xmlns:a16="http://schemas.microsoft.com/office/drawing/2014/main" val="20003"/>
                    </a:ext>
                  </a:extLst>
                </a:gridCol>
              </a:tblGrid>
              <a:tr h="223520">
                <a:tc>
                  <a:txBody>
                    <a:bodyPr/>
                    <a:lstStyle/>
                    <a:p>
                      <a:r>
                        <a:rPr lang="en-US" b="1" dirty="0"/>
                        <a:t>Phase</a:t>
                      </a:r>
                      <a:endParaRPr lang="en-US" dirty="0"/>
                    </a:p>
                  </a:txBody>
                  <a:tcPr anchor="ctr"/>
                </a:tc>
                <a:tc>
                  <a:txBody>
                    <a:bodyPr/>
                    <a:lstStyle/>
                    <a:p>
                      <a:r>
                        <a:rPr lang="en-US" b="1" dirty="0"/>
                        <a:t>Budget Item</a:t>
                      </a:r>
                      <a:endParaRPr lang="en-US" dirty="0"/>
                    </a:p>
                  </a:txBody>
                  <a:tcPr anchor="ctr"/>
                </a:tc>
                <a:tc>
                  <a:txBody>
                    <a:bodyPr/>
                    <a:lstStyle/>
                    <a:p>
                      <a:r>
                        <a:rPr lang="en-US" b="1"/>
                        <a:t>Cost (₹)</a:t>
                      </a:r>
                      <a:endParaRPr lang="en-US"/>
                    </a:p>
                  </a:txBody>
                  <a:tcPr anchor="ctr"/>
                </a:tc>
                <a:tc>
                  <a:txBody>
                    <a:bodyPr/>
                    <a:lstStyle/>
                    <a:p>
                      <a:r>
                        <a:rPr lang="en-US" b="1" dirty="0"/>
                        <a:t>Justification</a:t>
                      </a:r>
                      <a:endParaRPr lang="en-US" dirty="0"/>
                    </a:p>
                  </a:txBody>
                  <a:tcPr anchor="ctr"/>
                </a:tc>
                <a:extLst>
                  <a:ext uri="{0D108BD9-81ED-4DB2-BD59-A6C34878D82A}">
                    <a16:rowId xmlns:a16="http://schemas.microsoft.com/office/drawing/2014/main" val="10000"/>
                  </a:ext>
                </a:extLst>
              </a:tr>
              <a:tr h="894080">
                <a:tc>
                  <a:txBody>
                    <a:bodyPr/>
                    <a:lstStyle/>
                    <a:p>
                      <a:r>
                        <a:rPr lang="en-US" b="1"/>
                        <a:t>Phase 7: Commercial Launch &amp; Growth</a:t>
                      </a:r>
                      <a:endParaRPr lang="en-US"/>
                    </a:p>
                  </a:txBody>
                  <a:tcPr anchor="ctr"/>
                </a:tc>
                <a:tc>
                  <a:txBody>
                    <a:bodyPr/>
                    <a:lstStyle/>
                    <a:p>
                      <a:r>
                        <a:rPr lang="en-US"/>
                        <a:t>Post-Launch Operations</a:t>
                      </a:r>
                    </a:p>
                  </a:txBody>
                  <a:tcPr anchor="ctr"/>
                </a:tc>
                <a:tc>
                  <a:txBody>
                    <a:bodyPr/>
                    <a:lstStyle/>
                    <a:p>
                      <a:r>
                        <a:rPr lang="en-US"/>
                        <a:t>1,00,000</a:t>
                      </a:r>
                    </a:p>
                  </a:txBody>
                  <a:tcPr anchor="ctr"/>
                </a:tc>
                <a:tc>
                  <a:txBody>
                    <a:bodyPr/>
                    <a:lstStyle/>
                    <a:p>
                      <a:r>
                        <a:rPr lang="en-US"/>
                        <a:t>Ongoing expenses for customer service, server maintenance, and support staff.</a:t>
                      </a:r>
                    </a:p>
                  </a:txBody>
                  <a:tcPr anchor="ctr"/>
                </a:tc>
                <a:extLst>
                  <a:ext uri="{0D108BD9-81ED-4DB2-BD59-A6C34878D82A}">
                    <a16:rowId xmlns:a16="http://schemas.microsoft.com/office/drawing/2014/main" val="10001"/>
                  </a:ext>
                </a:extLst>
              </a:tr>
              <a:tr h="726440">
                <a:tc>
                  <a:txBody>
                    <a:bodyPr/>
                    <a:lstStyle/>
                    <a:p>
                      <a:endParaRPr lang="en-US" dirty="0"/>
                    </a:p>
                  </a:txBody>
                  <a:tcPr anchor="ctr"/>
                </a:tc>
                <a:tc>
                  <a:txBody>
                    <a:bodyPr/>
                    <a:lstStyle/>
                    <a:p>
                      <a:r>
                        <a:rPr lang="en-US"/>
                        <a:t>Expansion to New Markets</a:t>
                      </a:r>
                    </a:p>
                  </a:txBody>
                  <a:tcPr anchor="ctr"/>
                </a:tc>
                <a:tc>
                  <a:txBody>
                    <a:bodyPr/>
                    <a:lstStyle/>
                    <a:p>
                      <a:r>
                        <a:rPr lang="en-US"/>
                        <a:t>1,50,000</a:t>
                      </a:r>
                    </a:p>
                  </a:txBody>
                  <a:tcPr anchor="ctr"/>
                </a:tc>
                <a:tc>
                  <a:txBody>
                    <a:bodyPr/>
                    <a:lstStyle/>
                    <a:p>
                      <a:r>
                        <a:rPr lang="en-US" dirty="0"/>
                        <a:t>Costs for expanding Dropizi to other regions, onboarding new hubs, and partnerships.</a:t>
                      </a:r>
                    </a:p>
                  </a:txBody>
                  <a:tcPr anchor="ctr"/>
                </a:tc>
                <a:extLst>
                  <a:ext uri="{0D108BD9-81ED-4DB2-BD59-A6C34878D82A}">
                    <a16:rowId xmlns:a16="http://schemas.microsoft.com/office/drawing/2014/main" val="10002"/>
                  </a:ext>
                </a:extLst>
              </a:tr>
              <a:tr h="726440">
                <a:tc>
                  <a:txBody>
                    <a:bodyPr/>
                    <a:lstStyle/>
                    <a:p>
                      <a:endParaRPr lang="en-US" dirty="0"/>
                    </a:p>
                  </a:txBody>
                  <a:tcPr anchor="ctr"/>
                </a:tc>
                <a:tc>
                  <a:txBody>
                    <a:bodyPr/>
                    <a:lstStyle/>
                    <a:p>
                      <a:r>
                        <a:rPr lang="en-US"/>
                        <a:t>Continuous Improvement &amp; R&amp;D</a:t>
                      </a:r>
                    </a:p>
                  </a:txBody>
                  <a:tcPr anchor="ctr"/>
                </a:tc>
                <a:tc>
                  <a:txBody>
                    <a:bodyPr/>
                    <a:lstStyle/>
                    <a:p>
                      <a:r>
                        <a:rPr lang="en-US"/>
                        <a:t>50,000</a:t>
                      </a:r>
                    </a:p>
                  </a:txBody>
                  <a:tcPr anchor="ctr"/>
                </a:tc>
                <a:tc>
                  <a:txBody>
                    <a:bodyPr/>
                    <a:lstStyle/>
                    <a:p>
                      <a:r>
                        <a:rPr lang="en-US"/>
                        <a:t>Continuous feature enhancements and technology upgrades.</a:t>
                      </a:r>
                    </a:p>
                  </a:txBody>
                  <a:tcPr anchor="ctr"/>
                </a:tc>
                <a:extLst>
                  <a:ext uri="{0D108BD9-81ED-4DB2-BD59-A6C34878D82A}">
                    <a16:rowId xmlns:a16="http://schemas.microsoft.com/office/drawing/2014/main" val="10003"/>
                  </a:ext>
                </a:extLst>
              </a:tr>
              <a:tr h="1061720">
                <a:tc>
                  <a:txBody>
                    <a:bodyPr/>
                    <a:lstStyle/>
                    <a:p>
                      <a:r>
                        <a:rPr lang="en-US" b="1" dirty="0"/>
                        <a:t>Subtotal</a:t>
                      </a:r>
                      <a:endParaRPr lang="en-US" dirty="0"/>
                    </a:p>
                  </a:txBody>
                  <a:tcPr anchor="ctr"/>
                </a:tc>
                <a:tc>
                  <a:txBody>
                    <a:bodyPr/>
                    <a:lstStyle/>
                    <a:p>
                      <a:endParaRPr lang="en-US" dirty="0"/>
                    </a:p>
                  </a:txBody>
                  <a:tcPr anchor="ctr"/>
                </a:tc>
                <a:tc>
                  <a:txBody>
                    <a:bodyPr/>
                    <a:lstStyle/>
                    <a:p>
                      <a:r>
                        <a:rPr lang="en-US" b="1"/>
                        <a:t>3,00,000</a:t>
                      </a:r>
                      <a:endParaRPr lang="en-US"/>
                    </a:p>
                  </a:txBody>
                  <a:tcPr anchor="ctr"/>
                </a:tc>
                <a:tc>
                  <a:txBody>
                    <a:bodyPr/>
                    <a:lstStyle/>
                    <a:p>
                      <a:endParaRPr lang="en-US" dirty="0"/>
                    </a:p>
                  </a:txBody>
                  <a:tcPr anchor="ctr"/>
                </a:tc>
                <a:extLst>
                  <a:ext uri="{0D108BD9-81ED-4DB2-BD59-A6C34878D82A}">
                    <a16:rowId xmlns:a16="http://schemas.microsoft.com/office/drawing/2014/main" val="10004"/>
                  </a:ext>
                </a:extLst>
              </a:tr>
              <a:tr h="894080">
                <a:tc>
                  <a:txBody>
                    <a:bodyPr/>
                    <a:lstStyle/>
                    <a:p>
                      <a:r>
                        <a:rPr lang="en-US" b="1" dirty="0"/>
                        <a:t>Total Budget</a:t>
                      </a:r>
                      <a:endParaRPr lang="en-US" dirty="0"/>
                    </a:p>
                  </a:txBody>
                  <a:tcPr anchor="ctr"/>
                </a:tc>
                <a:tc>
                  <a:txBody>
                    <a:bodyPr/>
                    <a:lstStyle/>
                    <a:p>
                      <a:endParaRPr lang="en-US"/>
                    </a:p>
                  </a:txBody>
                  <a:tcPr anchor="ctr"/>
                </a:tc>
                <a:tc>
                  <a:txBody>
                    <a:bodyPr/>
                    <a:lstStyle/>
                    <a:p>
                      <a:r>
                        <a:rPr lang="en-US" b="1" dirty="0"/>
                        <a:t>₹17,40,000</a:t>
                      </a:r>
                      <a:endParaRPr lang="en-US" dirty="0"/>
                    </a:p>
                  </a:txBody>
                  <a:tcPr anchor="ctr"/>
                </a:tc>
                <a:tc>
                  <a:txBody>
                    <a:bodyPr/>
                    <a:lstStyle/>
                    <a:p>
                      <a:endParaRPr lang="en-US" dirty="0"/>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15"/>
          <p:cNvSpPr txBox="1">
            <a:spLocks noGrp="1"/>
          </p:cNvSpPr>
          <p:nvPr>
            <p:ph type="ctrTitle"/>
          </p:nvPr>
        </p:nvSpPr>
        <p:spPr>
          <a:xfrm>
            <a:off x="1897200" y="1979000"/>
            <a:ext cx="8397600" cy="2078649"/>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US" sz="6000" b="1" dirty="0">
                <a:latin typeface="Tahoma"/>
                <a:ea typeface="Tahoma"/>
                <a:cs typeface="Tahoma"/>
                <a:sym typeface="Tahoma"/>
              </a:rPr>
              <a:t>Thank You!</a:t>
            </a:r>
            <a:br>
              <a:rPr lang="en-US" sz="3866" b="1" dirty="0">
                <a:latin typeface="Tahoma"/>
                <a:ea typeface="Tahoma"/>
                <a:cs typeface="Tahoma"/>
                <a:sym typeface="Tahoma"/>
              </a:rPr>
            </a:br>
            <a:r>
              <a:rPr lang="en-US" sz="2400" b="1" dirty="0">
                <a:latin typeface="Tahoma"/>
                <a:ea typeface="Tahoma"/>
                <a:cs typeface="Tahoma"/>
                <a:sym typeface="Tahoma"/>
              </a:rPr>
              <a:t>For any queries, contact: Mr. Ankush </a:t>
            </a:r>
            <a:r>
              <a:rPr lang="en-US" sz="2400" b="1" dirty="0" err="1">
                <a:latin typeface="Tahoma"/>
                <a:ea typeface="Tahoma"/>
                <a:cs typeface="Tahoma"/>
                <a:sym typeface="Tahoma"/>
              </a:rPr>
              <a:t>Pathania</a:t>
            </a:r>
            <a:r>
              <a:rPr lang="en-US" sz="2400" b="1" dirty="0">
                <a:latin typeface="Tahoma"/>
                <a:ea typeface="Tahoma"/>
                <a:cs typeface="Tahoma"/>
                <a:sym typeface="Tahoma"/>
              </a:rPr>
              <a:t> at </a:t>
            </a:r>
            <a:r>
              <a:rPr lang="en-US" sz="2400" b="1" u="sng" dirty="0">
                <a:solidFill>
                  <a:schemeClr val="hlink"/>
                </a:solidFill>
                <a:latin typeface="Tahoma"/>
                <a:ea typeface="Tahoma"/>
                <a:cs typeface="Tahoma"/>
                <a:sym typeface="Tahoma"/>
                <a:hlinkClick r:id="rId3"/>
              </a:rPr>
              <a:t>ankush@ihubiitmandi.in</a:t>
            </a:r>
            <a:r>
              <a:rPr lang="en-US" sz="2400" b="1" dirty="0">
                <a:latin typeface="Tahoma"/>
                <a:ea typeface="Tahoma"/>
                <a:cs typeface="Tahoma"/>
                <a:sym typeface="Tahoma"/>
              </a:rPr>
              <a:t> or call at 7018242838</a:t>
            </a:r>
            <a:endParaRPr dirty="0"/>
          </a:p>
        </p:txBody>
      </p:sp>
      <p:pic>
        <p:nvPicPr>
          <p:cNvPr id="352" name="Google Shape;352;p15"/>
          <p:cNvPicPr preferRelativeResize="0"/>
          <p:nvPr/>
        </p:nvPicPr>
        <p:blipFill rotWithShape="1">
          <a:blip r:embed="rId4">
            <a:alphaModFix/>
          </a:blip>
          <a:srcRect/>
          <a:stretch/>
        </p:blipFill>
        <p:spPr>
          <a:xfrm>
            <a:off x="59619" y="69386"/>
            <a:ext cx="1388397" cy="1236185"/>
          </a:xfrm>
          <a:prstGeom prst="rect">
            <a:avLst/>
          </a:prstGeom>
          <a:noFill/>
          <a:ln>
            <a:noFill/>
          </a:ln>
        </p:spPr>
      </p:pic>
      <p:pic>
        <p:nvPicPr>
          <p:cNvPr id="353" name="Google Shape;353;p15" descr="A logo with a head and lines and dots&#10;&#10;Description automatically generated"/>
          <p:cNvPicPr preferRelativeResize="0"/>
          <p:nvPr/>
        </p:nvPicPr>
        <p:blipFill rotWithShape="1">
          <a:blip r:embed="rId5">
            <a:alphaModFix/>
          </a:blip>
          <a:srcRect/>
          <a:stretch/>
        </p:blipFill>
        <p:spPr>
          <a:xfrm>
            <a:off x="10829006" y="287454"/>
            <a:ext cx="1170024" cy="75733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6269</TotalTime>
  <Words>3788</Words>
  <Application>Microsoft Office PowerPoint</Application>
  <PresentationFormat>Widescreen</PresentationFormat>
  <Paragraphs>431</Paragraphs>
  <Slides>27</Slides>
  <Notes>26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Perpetua</vt:lpstr>
      <vt:lpstr>Quicksand</vt:lpstr>
      <vt:lpstr>Wingdings 2</vt:lpstr>
      <vt:lpstr>Calibri</vt:lpstr>
      <vt:lpstr>Franklin Gothic Book</vt:lpstr>
      <vt:lpstr>Tahoma</vt:lpstr>
      <vt:lpstr>Arial</vt:lpstr>
      <vt:lpstr>Times New Roman</vt:lpstr>
      <vt:lpstr>Perpetua (Body)</vt:lpstr>
      <vt:lpstr>Equity</vt:lpstr>
      <vt:lpstr>PowerPoint Presentation</vt:lpstr>
      <vt:lpstr>PowerPoint Presentation</vt:lpstr>
      <vt:lpstr>Brief description of the idea/project/venture</vt:lpstr>
      <vt:lpstr>Context/Background</vt:lpstr>
      <vt:lpstr>Proposed Solution</vt:lpstr>
      <vt:lpstr>Team</vt:lpstr>
      <vt:lpstr>Product</vt:lpstr>
      <vt:lpstr>Product</vt:lpstr>
      <vt:lpstr>Target Market</vt:lpstr>
      <vt:lpstr>Target Market</vt:lpstr>
      <vt:lpstr>Target Market</vt:lpstr>
      <vt:lpstr>Business Model</vt:lpstr>
      <vt:lpstr>Business Model</vt:lpstr>
      <vt:lpstr>Business Model</vt:lpstr>
      <vt:lpstr>Work Plan and Go-to-Market</vt:lpstr>
      <vt:lpstr>Work Plan and Go-to-Market</vt:lpstr>
      <vt:lpstr>Work Plan and Go-to-Market</vt:lpstr>
      <vt:lpstr>Competitive Landscape</vt:lpstr>
      <vt:lpstr>Competitive Landscape</vt:lpstr>
      <vt:lpstr>Competitive Landscape</vt:lpstr>
      <vt:lpstr>Competitive Landscape</vt:lpstr>
      <vt:lpstr>Funding Details from Other Investors</vt:lpstr>
      <vt:lpstr>Ask from IIT Mandi iHub</vt:lpstr>
      <vt:lpstr>PowerPoint Presentation</vt:lpstr>
      <vt:lpstr>PowerPoint Presentation</vt:lpstr>
      <vt:lpstr>PowerPoint Presentation</vt:lpstr>
      <vt:lpstr>Thank You! For any queries, contact: Mr. Ankush Pathania at ankush@ihubiitmandi.in or call at 7018242838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Himanshu Bisht</cp:lastModifiedBy>
  <cp:revision>87</cp:revision>
  <dcterms:modified xsi:type="dcterms:W3CDTF">2024-10-29T08:13:53Z</dcterms:modified>
</cp:coreProperties>
</file>